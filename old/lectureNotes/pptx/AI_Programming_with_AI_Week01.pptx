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7" r:id="rId4"/>
    <p:sldId id="258" r:id="rId5"/>
    <p:sldId id="259" r:id="rId6"/>
    <p:sldId id="260" r:id="rId7"/>
    <p:sldId id="284" r:id="rId8"/>
    <p:sldId id="262" r:id="rId9"/>
    <p:sldId id="285" r:id="rId10"/>
    <p:sldId id="28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1" r:id="rId20"/>
    <p:sldId id="282" r:id="rId21"/>
    <p:sldId id="283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D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ngho Lee" userId="8d4cb33d81fe8010" providerId="LiveId" clId="{95971DB8-E339-4B32-80CF-0D8F9D8B87F2}"/>
    <pc:docChg chg="undo custSel addSld modSld">
      <pc:chgData name="Youngho Lee" userId="8d4cb33d81fe8010" providerId="LiveId" clId="{95971DB8-E339-4B32-80CF-0D8F9D8B87F2}" dt="2026-03-10T06:55:43.722" v="60" actId="478"/>
      <pc:docMkLst>
        <pc:docMk/>
      </pc:docMkLst>
      <pc:sldChg chg="delSp mod">
        <pc:chgData name="Youngho Lee" userId="8d4cb33d81fe8010" providerId="LiveId" clId="{95971DB8-E339-4B32-80CF-0D8F9D8B87F2}" dt="2026-02-20T08:50:22.689" v="0" actId="478"/>
        <pc:sldMkLst>
          <pc:docMk/>
          <pc:sldMk cId="0" sldId="256"/>
        </pc:sldMkLst>
      </pc:sldChg>
      <pc:sldChg chg="addSp delSp mod">
        <pc:chgData name="Youngho Lee" userId="8d4cb33d81fe8010" providerId="LiveId" clId="{95971DB8-E339-4B32-80CF-0D8F9D8B87F2}" dt="2026-02-20T09:02:54.315" v="48" actId="22"/>
        <pc:sldMkLst>
          <pc:docMk/>
          <pc:sldMk cId="0" sldId="257"/>
        </pc:sldMkLst>
      </pc:sldChg>
      <pc:sldChg chg="delSp mod">
        <pc:chgData name="Youngho Lee" userId="8d4cb33d81fe8010" providerId="LiveId" clId="{95971DB8-E339-4B32-80CF-0D8F9D8B87F2}" dt="2026-02-20T08:54:00.898" v="45" actId="478"/>
        <pc:sldMkLst>
          <pc:docMk/>
          <pc:sldMk cId="0" sldId="258"/>
        </pc:sldMkLst>
      </pc:sldChg>
      <pc:sldChg chg="addSp delSp modSp mod">
        <pc:chgData name="Youngho Lee" userId="8d4cb33d81fe8010" providerId="LiveId" clId="{95971DB8-E339-4B32-80CF-0D8F9D8B87F2}" dt="2026-03-10T06:55:43.722" v="60" actId="478"/>
        <pc:sldMkLst>
          <pc:docMk/>
          <pc:sldMk cId="0" sldId="259"/>
        </pc:sldMkLst>
        <pc:spChg chg="add del">
          <ac:chgData name="Youngho Lee" userId="8d4cb33d81fe8010" providerId="LiveId" clId="{95971DB8-E339-4B32-80CF-0D8F9D8B87F2}" dt="2026-03-10T06:55:43.722" v="60" actId="478"/>
          <ac:spMkLst>
            <pc:docMk/>
            <pc:sldMk cId="0" sldId="259"/>
            <ac:spMk id="12" creationId="{00000000-0000-0000-0000-000000000000}"/>
          </ac:spMkLst>
        </pc:spChg>
        <pc:spChg chg="add del">
          <ac:chgData name="Youngho Lee" userId="8d4cb33d81fe8010" providerId="LiveId" clId="{95971DB8-E339-4B32-80CF-0D8F9D8B87F2}" dt="2026-03-10T06:55:22.672" v="53" actId="478"/>
          <ac:spMkLst>
            <pc:docMk/>
            <pc:sldMk cId="0" sldId="259"/>
            <ac:spMk id="13" creationId="{00000000-0000-0000-0000-000000000000}"/>
          </ac:spMkLst>
        </pc:spChg>
        <pc:spChg chg="add del">
          <ac:chgData name="Youngho Lee" userId="8d4cb33d81fe8010" providerId="LiveId" clId="{95971DB8-E339-4B32-80CF-0D8F9D8B87F2}" dt="2026-03-10T06:55:41.368" v="59" actId="478"/>
          <ac:spMkLst>
            <pc:docMk/>
            <pc:sldMk cId="0" sldId="259"/>
            <ac:spMk id="14" creationId="{00000000-0000-0000-0000-000000000000}"/>
          </ac:spMkLst>
        </pc:spChg>
        <pc:spChg chg="add del">
          <ac:chgData name="Youngho Lee" userId="8d4cb33d81fe8010" providerId="LiveId" clId="{95971DB8-E339-4B32-80CF-0D8F9D8B87F2}" dt="2026-03-10T06:55:38.901" v="58" actId="478"/>
          <ac:spMkLst>
            <pc:docMk/>
            <pc:sldMk cId="0" sldId="259"/>
            <ac:spMk id="16" creationId="{00000000-0000-0000-0000-000000000000}"/>
          </ac:spMkLst>
        </pc:spChg>
        <pc:spChg chg="add del">
          <ac:chgData name="Youngho Lee" userId="8d4cb33d81fe8010" providerId="LiveId" clId="{95971DB8-E339-4B32-80CF-0D8F9D8B87F2}" dt="2026-03-10T06:55:33.192" v="55" actId="478"/>
          <ac:spMkLst>
            <pc:docMk/>
            <pc:sldMk cId="0" sldId="259"/>
            <ac:spMk id="17" creationId="{00000000-0000-0000-0000-000000000000}"/>
          </ac:spMkLst>
        </pc:spChg>
        <pc:spChg chg="add del mod">
          <ac:chgData name="Youngho Lee" userId="8d4cb33d81fe8010" providerId="LiveId" clId="{95971DB8-E339-4B32-80CF-0D8F9D8B87F2}" dt="2026-03-10T06:55:36.653" v="57" actId="478"/>
          <ac:spMkLst>
            <pc:docMk/>
            <pc:sldMk cId="0" sldId="259"/>
            <ac:spMk id="18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8:53:55.685" v="43" actId="478"/>
        <pc:sldMkLst>
          <pc:docMk/>
          <pc:sldMk cId="0" sldId="260"/>
        </pc:sldMkLst>
      </pc:sldChg>
      <pc:sldChg chg="delSp mod">
        <pc:chgData name="Youngho Lee" userId="8d4cb33d81fe8010" providerId="LiveId" clId="{95971DB8-E339-4B32-80CF-0D8F9D8B87F2}" dt="2026-02-20T08:53:51.626" v="41" actId="478"/>
        <pc:sldMkLst>
          <pc:docMk/>
          <pc:sldMk cId="0" sldId="262"/>
        </pc:sldMkLst>
      </pc:sldChg>
      <pc:sldChg chg="delSp mod">
        <pc:chgData name="Youngho Lee" userId="8d4cb33d81fe8010" providerId="LiveId" clId="{95971DB8-E339-4B32-80CF-0D8F9D8B87F2}" dt="2026-02-20T08:53:42.538" v="38" actId="478"/>
        <pc:sldMkLst>
          <pc:docMk/>
          <pc:sldMk cId="0" sldId="265"/>
        </pc:sldMkLst>
      </pc:sldChg>
      <pc:sldChg chg="delSp modSp mod">
        <pc:chgData name="Youngho Lee" userId="8d4cb33d81fe8010" providerId="LiveId" clId="{95971DB8-E339-4B32-80CF-0D8F9D8B87F2}" dt="2026-02-20T08:53:40.458" v="37" actId="478"/>
        <pc:sldMkLst>
          <pc:docMk/>
          <pc:sldMk cId="0" sldId="266"/>
        </pc:sldMkLst>
        <pc:spChg chg="mod">
          <ac:chgData name="Youngho Lee" userId="8d4cb33d81fe8010" providerId="LiveId" clId="{95971DB8-E339-4B32-80CF-0D8F9D8B87F2}" dt="2026-02-20T08:52:02.386" v="14" actId="20577"/>
          <ac:spMkLst>
            <pc:docMk/>
            <pc:sldMk cId="0" sldId="266"/>
            <ac:spMk id="11" creationId="{00000000-0000-0000-0000-000000000000}"/>
          </ac:spMkLst>
        </pc:spChg>
      </pc:sldChg>
      <pc:sldChg chg="delSp mod">
        <pc:chgData name="Youngho Lee" userId="8d4cb33d81fe8010" providerId="LiveId" clId="{95971DB8-E339-4B32-80CF-0D8F9D8B87F2}" dt="2026-02-20T08:53:37.988" v="36" actId="478"/>
        <pc:sldMkLst>
          <pc:docMk/>
          <pc:sldMk cId="0" sldId="267"/>
        </pc:sldMkLst>
      </pc:sldChg>
      <pc:sldChg chg="delSp mod">
        <pc:chgData name="Youngho Lee" userId="8d4cb33d81fe8010" providerId="LiveId" clId="{95971DB8-E339-4B32-80CF-0D8F9D8B87F2}" dt="2026-02-20T08:53:35.871" v="35" actId="478"/>
        <pc:sldMkLst>
          <pc:docMk/>
          <pc:sldMk cId="0" sldId="268"/>
        </pc:sldMkLst>
      </pc:sldChg>
      <pc:sldChg chg="delSp mod">
        <pc:chgData name="Youngho Lee" userId="8d4cb33d81fe8010" providerId="LiveId" clId="{95971DB8-E339-4B32-80CF-0D8F9D8B87F2}" dt="2026-02-20T08:53:33.331" v="34" actId="478"/>
        <pc:sldMkLst>
          <pc:docMk/>
          <pc:sldMk cId="0" sldId="269"/>
        </pc:sldMkLst>
      </pc:sldChg>
      <pc:sldChg chg="delSp mod">
        <pc:chgData name="Youngho Lee" userId="8d4cb33d81fe8010" providerId="LiveId" clId="{95971DB8-E339-4B32-80CF-0D8F9D8B87F2}" dt="2026-02-20T08:53:30.234" v="33" actId="478"/>
        <pc:sldMkLst>
          <pc:docMk/>
          <pc:sldMk cId="0" sldId="270"/>
        </pc:sldMkLst>
      </pc:sldChg>
      <pc:sldChg chg="delSp modSp mod">
        <pc:chgData name="Youngho Lee" userId="8d4cb33d81fe8010" providerId="LiveId" clId="{95971DB8-E339-4B32-80CF-0D8F9D8B87F2}" dt="2026-02-20T08:53:24.645" v="32" actId="478"/>
        <pc:sldMkLst>
          <pc:docMk/>
          <pc:sldMk cId="0" sldId="271"/>
        </pc:sldMkLst>
      </pc:sldChg>
      <pc:sldChg chg="delSp mod">
        <pc:chgData name="Youngho Lee" userId="8d4cb33d81fe8010" providerId="LiveId" clId="{95971DB8-E339-4B32-80CF-0D8F9D8B87F2}" dt="2026-02-20T08:53:20.977" v="29" actId="478"/>
        <pc:sldMkLst>
          <pc:docMk/>
          <pc:sldMk cId="0" sldId="272"/>
        </pc:sldMkLst>
      </pc:sldChg>
      <pc:sldChg chg="delSp mod">
        <pc:chgData name="Youngho Lee" userId="8d4cb33d81fe8010" providerId="LiveId" clId="{95971DB8-E339-4B32-80CF-0D8F9D8B87F2}" dt="2026-02-20T08:53:09.105" v="24" actId="478"/>
        <pc:sldMkLst>
          <pc:docMk/>
          <pc:sldMk cId="0" sldId="273"/>
        </pc:sldMkLst>
      </pc:sldChg>
      <pc:sldChg chg="delSp mod">
        <pc:chgData name="Youngho Lee" userId="8d4cb33d81fe8010" providerId="LiveId" clId="{95971DB8-E339-4B32-80CF-0D8F9D8B87F2}" dt="2026-02-20T08:53:06.309" v="23" actId="478"/>
        <pc:sldMkLst>
          <pc:docMk/>
          <pc:sldMk cId="0" sldId="274"/>
        </pc:sldMkLst>
      </pc:sldChg>
      <pc:sldChg chg="delSp mod">
        <pc:chgData name="Youngho Lee" userId="8d4cb33d81fe8010" providerId="LiveId" clId="{95971DB8-E339-4B32-80CF-0D8F9D8B87F2}" dt="2026-02-20T08:53:03.451" v="22" actId="478"/>
        <pc:sldMkLst>
          <pc:docMk/>
          <pc:sldMk cId="0" sldId="275"/>
        </pc:sldMkLst>
      </pc:sldChg>
      <pc:sldChg chg="delSp mod">
        <pc:chgData name="Youngho Lee" userId="8d4cb33d81fe8010" providerId="LiveId" clId="{95971DB8-E339-4B32-80CF-0D8F9D8B87F2}" dt="2026-02-20T08:53:00.708" v="21" actId="478"/>
        <pc:sldMkLst>
          <pc:docMk/>
          <pc:sldMk cId="0" sldId="276"/>
        </pc:sldMkLst>
      </pc:sldChg>
      <pc:sldChg chg="delSp mod">
        <pc:chgData name="Youngho Lee" userId="8d4cb33d81fe8010" providerId="LiveId" clId="{95971DB8-E339-4B32-80CF-0D8F9D8B87F2}" dt="2026-02-20T08:52:56.226" v="19" actId="478"/>
        <pc:sldMkLst>
          <pc:docMk/>
          <pc:sldMk cId="0" sldId="277"/>
        </pc:sldMkLst>
      </pc:sldChg>
      <pc:sldChg chg="delSp mod">
        <pc:chgData name="Youngho Lee" userId="8d4cb33d81fe8010" providerId="LiveId" clId="{95971DB8-E339-4B32-80CF-0D8F9D8B87F2}" dt="2026-02-20T08:52:53.963" v="18" actId="478"/>
        <pc:sldMkLst>
          <pc:docMk/>
          <pc:sldMk cId="0" sldId="278"/>
        </pc:sldMkLst>
      </pc:sldChg>
      <pc:sldChg chg="delSp mod">
        <pc:chgData name="Youngho Lee" userId="8d4cb33d81fe8010" providerId="LiveId" clId="{95971DB8-E339-4B32-80CF-0D8F9D8B87F2}" dt="2026-02-20T08:52:47.243" v="16" actId="478"/>
        <pc:sldMkLst>
          <pc:docMk/>
          <pc:sldMk cId="0" sldId="279"/>
        </pc:sldMkLst>
      </pc:sldChg>
      <pc:sldChg chg="delSp mod">
        <pc:chgData name="Youngho Lee" userId="8d4cb33d81fe8010" providerId="LiveId" clId="{95971DB8-E339-4B32-80CF-0D8F9D8B87F2}" dt="2026-02-20T08:52:50.668" v="17" actId="478"/>
        <pc:sldMkLst>
          <pc:docMk/>
          <pc:sldMk cId="0" sldId="280"/>
        </pc:sldMkLst>
      </pc:sldChg>
      <pc:sldChg chg="delSp mod">
        <pc:chgData name="Youngho Lee" userId="8d4cb33d81fe8010" providerId="LiveId" clId="{95971DB8-E339-4B32-80CF-0D8F9D8B87F2}" dt="2026-02-20T08:53:18.731" v="28" actId="478"/>
        <pc:sldMkLst>
          <pc:docMk/>
          <pc:sldMk cId="2815544499" sldId="281"/>
        </pc:sldMkLst>
      </pc:sldChg>
      <pc:sldChg chg="delSp mod">
        <pc:chgData name="Youngho Lee" userId="8d4cb33d81fe8010" providerId="LiveId" clId="{95971DB8-E339-4B32-80CF-0D8F9D8B87F2}" dt="2026-02-20T08:53:14.785" v="27" actId="478"/>
        <pc:sldMkLst>
          <pc:docMk/>
          <pc:sldMk cId="3819390201" sldId="282"/>
        </pc:sldMkLst>
      </pc:sldChg>
      <pc:sldChg chg="delSp mod">
        <pc:chgData name="Youngho Lee" userId="8d4cb33d81fe8010" providerId="LiveId" clId="{95971DB8-E339-4B32-80CF-0D8F9D8B87F2}" dt="2026-02-20T08:53:11.450" v="25" actId="478"/>
        <pc:sldMkLst>
          <pc:docMk/>
          <pc:sldMk cId="3233938339" sldId="283"/>
        </pc:sldMkLst>
      </pc:sldChg>
      <pc:sldChg chg="delSp mod">
        <pc:chgData name="Youngho Lee" userId="8d4cb33d81fe8010" providerId="LiveId" clId="{95971DB8-E339-4B32-80CF-0D8F9D8B87F2}" dt="2026-02-20T08:53:53.805" v="42" actId="478"/>
        <pc:sldMkLst>
          <pc:docMk/>
          <pc:sldMk cId="372406136" sldId="284"/>
        </pc:sldMkLst>
      </pc:sldChg>
      <pc:sldChg chg="delSp mod">
        <pc:chgData name="Youngho Lee" userId="8d4cb33d81fe8010" providerId="LiveId" clId="{95971DB8-E339-4B32-80CF-0D8F9D8B87F2}" dt="2026-02-20T08:53:48.576" v="40" actId="478"/>
        <pc:sldMkLst>
          <pc:docMk/>
          <pc:sldMk cId="2758323687" sldId="285"/>
        </pc:sldMkLst>
      </pc:sldChg>
      <pc:sldChg chg="delSp mod">
        <pc:chgData name="Youngho Lee" userId="8d4cb33d81fe8010" providerId="LiveId" clId="{95971DB8-E339-4B32-80CF-0D8F9D8B87F2}" dt="2026-02-20T08:53:45.927" v="39" actId="478"/>
        <pc:sldMkLst>
          <pc:docMk/>
          <pc:sldMk cId="690268307" sldId="286"/>
        </pc:sldMkLst>
      </pc:sldChg>
      <pc:sldChg chg="modSp add mod">
        <pc:chgData name="Youngho Lee" userId="8d4cb33d81fe8010" providerId="LiveId" clId="{95971DB8-E339-4B32-80CF-0D8F9D8B87F2}" dt="2026-02-20T09:03:50.445" v="51" actId="20577"/>
        <pc:sldMkLst>
          <pc:docMk/>
          <pc:sldMk cId="1657139275" sldId="287"/>
        </pc:sldMkLst>
        <pc:spChg chg="mod">
          <ac:chgData name="Youngho Lee" userId="8d4cb33d81fe8010" providerId="LiveId" clId="{95971DB8-E339-4B32-80CF-0D8F9D8B87F2}" dt="2026-02-20T09:03:50.445" v="51" actId="20577"/>
          <ac:spMkLst>
            <pc:docMk/>
            <pc:sldMk cId="1657139275" sldId="287"/>
            <ac:spMk id="4" creationId="{F4184223-0B92-F0EA-88FD-D0A4D851BA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63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0A40A-FAAF-FF20-0F42-A67D5CCFF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D373D-ED0C-FDDA-4D1C-CA6BD8E2B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02B65-6A00-1F36-D3D6-6D34E7184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9D41B-9F1E-57FD-4002-06D498775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36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5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11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01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08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92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188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10800000">
            <a:off x="8899855" y="3931920"/>
            <a:ext cx="3840480" cy="3840480"/>
          </a:xfrm>
          <a:prstGeom prst="rtTriangl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1FA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1. 프로그래밍 언어 구조와 LLM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기본 구조 + With AI 코딩 시작하기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언어의 구성요소(문법·의미·실행)를 설명할 수 있다.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방식과 인터프리트 방식의 차이를 비교할 수 있다.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LLM을 코딩 학습에 활용하는 기본 원칙과 프롬프트 템플릿을 적용할 수 있다.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92507-D0BC-009E-D392-2FAD2520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>
            <a:extLst>
              <a:ext uri="{FF2B5EF4-FFF2-40B4-BE49-F238E27FC236}">
                <a16:creationId xmlns:a16="http://schemas.microsoft.com/office/drawing/2014/main" id="{9074D6CE-B0E5-9D27-6619-E63352D4DD02}"/>
              </a:ext>
            </a:extLst>
          </p:cNvPr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저장소</a:t>
            </a:r>
            <a:r>
              <a:rPr lang="en-US" altLang="ko-KR"/>
              <a:t>: https://github.com/MNU-AI-Programming/AI-programming</a:t>
            </a:r>
            <a:endParaRPr lang="ko-KR" alt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54C8C71-C26E-6971-F5D8-B7F0F6B89D2B}"/>
              </a:ext>
            </a:extLst>
          </p:cNvPr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DBF128-5825-45CE-B9C8-E728A3F8B072}"/>
              </a:ext>
            </a:extLst>
          </p:cNvPr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184223-0B92-F0EA-88FD-D0A4D851BAB8}"/>
              </a:ext>
            </a:extLst>
          </p:cNvPr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5C89619-2E63-BCAB-504F-C8120D91AAA2}"/>
              </a:ext>
            </a:extLst>
          </p:cNvPr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2/25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ADF7F6D-07F8-F3B8-D425-6AAA0DDB6B2E}"/>
              </a:ext>
            </a:extLst>
          </p:cNvPr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</a:t>
            </a:r>
            <a:endParaRPr lang="en-US" sz="3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5F3CA9E-2677-2940-A193-F606C76E8A6A}"/>
              </a:ext>
            </a:extLst>
          </p:cNvPr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09D71FF-D2B0-96D0-8004-1AA687DEBBCD}"/>
              </a:ext>
            </a:extLst>
          </p:cNvPr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endParaRPr lang="en-US" sz="2200" dirty="0"/>
          </a:p>
        </p:txBody>
      </p:sp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D564EB-E20A-2AC7-6416-B8EDC4A57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210" y="2269036"/>
            <a:ext cx="7999268" cy="438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39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구성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 운영(평가/출석) 빠르게 확인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구조: 문법·의미·실행 흐름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유형과 디버깅 루틴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개념과 With AI 코딩 방법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실습 &amp; 미니 퀴즈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운영(평가·출석)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554480" y="2633472"/>
            <a:ext cx="908274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62754" y="2633472"/>
            <a:ext cx="2724821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187574" y="2633472"/>
            <a:ext cx="2724821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12395" y="2633472"/>
            <a:ext cx="2724821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554480" y="2084832"/>
            <a:ext cx="9082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평가(총 100점)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54480" y="3547872"/>
            <a:ext cx="9082735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0" y="3685032"/>
            <a:ext cx="8534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 기준(중요)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032504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04800" indent="-304800">
              <a:buSzPct val="100000"/>
              <a:buChar char="•"/>
            </a:pPr>
            <a:r>
              <a:rPr lang="en-US" sz="1600" dirty="0" err="1">
                <a:solidFill>
                  <a:srgbClr val="7C2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출석률이</a:t>
            </a:r>
            <a:r>
              <a:rPr lang="en-US" sz="1600" dirty="0">
                <a:solidFill>
                  <a:srgbClr val="7C2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수업시간의 3/4 미만이면 해당 교과목 성적은 F 처리</a:t>
            </a:r>
            <a:endParaRPr lang="en-US" sz="1600" dirty="0"/>
          </a:p>
          <a:p>
            <a:pPr marL="304800" indent="-304800">
              <a:buSzPct val="100000"/>
              <a:buChar char="•"/>
            </a:pPr>
            <a:r>
              <a:rPr lang="en-US" sz="1600" dirty="0" err="1">
                <a:solidFill>
                  <a:srgbClr val="7C2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공결</a:t>
            </a:r>
            <a:r>
              <a:rPr lang="en-US" sz="1600" dirty="0">
                <a:solidFill>
                  <a:srgbClr val="7C2D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(출석처리 특례) 사유가 있을 경우: 결석계 제출 및 학과 확인 필요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5833872"/>
            <a:ext cx="9082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세부 기준은 강의계획서 및 학사 규정을 따름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언어란?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문제 해결 절차(알고리즘)를 컴퓨터가 실행 가능한 형태로 표현하는 규칙의 집합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문법(Syntax): “어떻게 쓰는가”  |  의미(Semantics): “무슨 뜻인가”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Python, Java, C, JavaScript …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언어는 “사람 ↔ 컴퓨터” 사이의 약속(표현 규칙)이다.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언어가 하는 일: 번역의 흐름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0120" y="4599432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문제를 “정확한 명령 + 데이터”로 바꾸는 과정이 프로그래밍입니다.</a:t>
            </a:r>
            <a:endParaRPr lang="en-US" sz="18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06AB2D6C-98E8-4C23-95D6-82F96E961EEF}"/>
              </a:ext>
            </a:extLst>
          </p:cNvPr>
          <p:cNvSpPr/>
          <p:nvPr/>
        </p:nvSpPr>
        <p:spPr>
          <a:xfrm>
            <a:off x="133968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8B73E49D-4EFD-4890-B63C-8FE5040EED38}"/>
              </a:ext>
            </a:extLst>
          </p:cNvPr>
          <p:cNvSpPr/>
          <p:nvPr/>
        </p:nvSpPr>
        <p:spPr>
          <a:xfrm>
            <a:off x="131225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altLang="ko-KR" sz="16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5E6F958-7F47-4D65-B16F-07AAA0D072F6}"/>
              </a:ext>
            </a:extLst>
          </p:cNvPr>
          <p:cNvSpPr/>
          <p:nvPr/>
        </p:nvSpPr>
        <p:spPr>
          <a:xfrm>
            <a:off x="3013036" y="3400671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F73F3381-03ED-49F1-83D6-AF3B49B6FFE6}"/>
              </a:ext>
            </a:extLst>
          </p:cNvPr>
          <p:cNvSpPr/>
          <p:nvPr/>
        </p:nvSpPr>
        <p:spPr>
          <a:xfrm>
            <a:off x="330564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3C9581DA-9FC7-4037-8080-B638AD8D78D5}"/>
              </a:ext>
            </a:extLst>
          </p:cNvPr>
          <p:cNvSpPr/>
          <p:nvPr/>
        </p:nvSpPr>
        <p:spPr>
          <a:xfrm>
            <a:off x="327821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altLang="ko-KR" sz="16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A9E49546-74D6-4681-9D98-73E98464CAF3}"/>
              </a:ext>
            </a:extLst>
          </p:cNvPr>
          <p:cNvSpPr/>
          <p:nvPr/>
        </p:nvSpPr>
        <p:spPr>
          <a:xfrm>
            <a:off x="4983568" y="3405243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A6615BFE-32CC-438C-8229-A544C2B4BB0B}"/>
              </a:ext>
            </a:extLst>
          </p:cNvPr>
          <p:cNvSpPr/>
          <p:nvPr/>
        </p:nvSpPr>
        <p:spPr>
          <a:xfrm>
            <a:off x="5267032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C2D79722-97DB-4564-978A-54327D01C152}"/>
              </a:ext>
            </a:extLst>
          </p:cNvPr>
          <p:cNvSpPr/>
          <p:nvPr/>
        </p:nvSpPr>
        <p:spPr>
          <a:xfrm>
            <a:off x="5239600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altLang="ko-KR" sz="16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6E6D6E38-14CA-401B-A6BE-99CE0A4CAC08}"/>
              </a:ext>
            </a:extLst>
          </p:cNvPr>
          <p:cNvSpPr/>
          <p:nvPr/>
        </p:nvSpPr>
        <p:spPr>
          <a:xfrm>
            <a:off x="6931240" y="3414387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B94CF3F8-4AE0-4534-91B4-E8DDE786BABC}"/>
              </a:ext>
            </a:extLst>
          </p:cNvPr>
          <p:cNvSpPr/>
          <p:nvPr/>
        </p:nvSpPr>
        <p:spPr>
          <a:xfrm>
            <a:off x="7242136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00EF8EA4-F5CA-41AD-8DBF-F2FD1348F735}"/>
              </a:ext>
            </a:extLst>
          </p:cNvPr>
          <p:cNvSpPr/>
          <p:nvPr/>
        </p:nvSpPr>
        <p:spPr>
          <a:xfrm>
            <a:off x="7322280" y="3373238"/>
            <a:ext cx="157349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altLang="ko-KR" sz="160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CD4C0744-301E-402A-AA35-C6330EE5798F}"/>
              </a:ext>
            </a:extLst>
          </p:cNvPr>
          <p:cNvSpPr/>
          <p:nvPr/>
        </p:nvSpPr>
        <p:spPr>
          <a:xfrm>
            <a:off x="8906344" y="3419138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415998CA-5F7C-46A6-822C-088F8062434C}"/>
              </a:ext>
            </a:extLst>
          </p:cNvPr>
          <p:cNvSpPr/>
          <p:nvPr/>
        </p:nvSpPr>
        <p:spPr>
          <a:xfrm>
            <a:off x="9203524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2128B1BF-0C0A-465C-ADFA-AA6C25ACC7C0}"/>
              </a:ext>
            </a:extLst>
          </p:cNvPr>
          <p:cNvSpPr/>
          <p:nvPr/>
        </p:nvSpPr>
        <p:spPr>
          <a:xfrm>
            <a:off x="9229880" y="3391168"/>
            <a:ext cx="165049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72406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 vs 인터프리트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581912"/>
            <a:ext cx="5112868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컴파일(Compile)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전에 소스코드를 기계어(또는 중간 코드)로 변환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오류(문법/타입) 일부를 미리 발견하기 쉬움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속도가 빠른 편(환경에 따라)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C/C++, (전통적) Java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0148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0148" y="1581912"/>
            <a:ext cx="5112868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0188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인터프리트(Interpret)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0188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시점에 한 줄씩 해석(또는 VM에서 실행)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REPL/빠른 실험에 유리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에러를 실행 중에 만날 수 있음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Python, JavaScript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실행 구조(개념도)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0120" y="4599432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언어/도구에 따라 “어디서 변환하고 어디서 실행하는지”가 달라집니다.</a:t>
            </a:r>
            <a:endParaRPr lang="en-US" sz="18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5590FF7F-735A-4BB8-B49A-123111129788}"/>
              </a:ext>
            </a:extLst>
          </p:cNvPr>
          <p:cNvSpPr/>
          <p:nvPr/>
        </p:nvSpPr>
        <p:spPr>
          <a:xfrm>
            <a:off x="133968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26D12C93-12E3-4F14-A285-A46613A07074}"/>
              </a:ext>
            </a:extLst>
          </p:cNvPr>
          <p:cNvSpPr/>
          <p:nvPr/>
        </p:nvSpPr>
        <p:spPr>
          <a:xfrm>
            <a:off x="131225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소스코드</a:t>
            </a:r>
            <a:endParaRPr lang="en-US" altLang="ko-KR" sz="16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824805F-A5AD-4A0A-A1AF-552199AB63E3}"/>
              </a:ext>
            </a:extLst>
          </p:cNvPr>
          <p:cNvSpPr/>
          <p:nvPr/>
        </p:nvSpPr>
        <p:spPr>
          <a:xfrm>
            <a:off x="3013036" y="3400671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2FB6480-1AE2-4D35-8ABF-DFF9E531F642}"/>
              </a:ext>
            </a:extLst>
          </p:cNvPr>
          <p:cNvSpPr/>
          <p:nvPr/>
        </p:nvSpPr>
        <p:spPr>
          <a:xfrm>
            <a:off x="330564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2C109197-0F1D-4AC6-B40B-3470A099CBDB}"/>
              </a:ext>
            </a:extLst>
          </p:cNvPr>
          <p:cNvSpPr/>
          <p:nvPr/>
        </p:nvSpPr>
        <p:spPr>
          <a:xfrm>
            <a:off x="327821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</a:t>
            </a: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</a:p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</a:t>
            </a:r>
            <a:endParaRPr lang="en-US" altLang="ko-KR" sz="16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00FDE157-5420-4E11-B8D0-1FBF5813964D}"/>
              </a:ext>
            </a:extLst>
          </p:cNvPr>
          <p:cNvSpPr/>
          <p:nvPr/>
        </p:nvSpPr>
        <p:spPr>
          <a:xfrm>
            <a:off x="4983568" y="3405243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C3ED0CAD-D927-4BFA-A30C-8256C28E1A48}"/>
              </a:ext>
            </a:extLst>
          </p:cNvPr>
          <p:cNvSpPr/>
          <p:nvPr/>
        </p:nvSpPr>
        <p:spPr>
          <a:xfrm>
            <a:off x="5267032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22404916-8747-4D2D-BE57-FA30558DC743}"/>
              </a:ext>
            </a:extLst>
          </p:cNvPr>
          <p:cNvSpPr/>
          <p:nvPr/>
        </p:nvSpPr>
        <p:spPr>
          <a:xfrm>
            <a:off x="5239600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endParaRPr lang="en-US" altLang="ko-KR" sz="16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94C2D7F6-3CDC-47CD-8DBA-44E2E48C8B7F}"/>
              </a:ext>
            </a:extLst>
          </p:cNvPr>
          <p:cNvSpPr/>
          <p:nvPr/>
        </p:nvSpPr>
        <p:spPr>
          <a:xfrm>
            <a:off x="6931240" y="3414387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0C7FAAE5-1EEC-433D-92F8-FA2E22350D8E}"/>
              </a:ext>
            </a:extLst>
          </p:cNvPr>
          <p:cNvSpPr/>
          <p:nvPr/>
        </p:nvSpPr>
        <p:spPr>
          <a:xfrm>
            <a:off x="7242136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43670BAC-7C63-4A2E-AB0B-0783B572FD1A}"/>
              </a:ext>
            </a:extLst>
          </p:cNvPr>
          <p:cNvSpPr/>
          <p:nvPr/>
        </p:nvSpPr>
        <p:spPr>
          <a:xfrm>
            <a:off x="7322280" y="3373238"/>
            <a:ext cx="157349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</a:t>
            </a:r>
          </a:p>
          <a:p>
            <a:pPr marL="0" indent="0" algn="ctr">
              <a:buNone/>
            </a:pPr>
            <a:r>
              <a:rPr lang="en-US" altLang="ko-KR" sz="1600" dirty="0"/>
              <a:t>(</a:t>
            </a:r>
            <a:r>
              <a:rPr lang="ko-KR" altLang="en-US" sz="1600" dirty="0"/>
              <a:t>운영체제</a:t>
            </a:r>
            <a:r>
              <a:rPr lang="en-US" altLang="ko-KR" sz="1600" dirty="0"/>
              <a:t>)</a:t>
            </a: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A4D64793-3794-457D-8B4A-7D48AC1F7679}"/>
              </a:ext>
            </a:extLst>
          </p:cNvPr>
          <p:cNvSpPr/>
          <p:nvPr/>
        </p:nvSpPr>
        <p:spPr>
          <a:xfrm>
            <a:off x="8906344" y="3419138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2CA21539-7718-4A68-B7A5-1CB8A64200B7}"/>
              </a:ext>
            </a:extLst>
          </p:cNvPr>
          <p:cNvSpPr/>
          <p:nvPr/>
        </p:nvSpPr>
        <p:spPr>
          <a:xfrm>
            <a:off x="9203524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8C73DC38-C822-4F02-AC80-AB645748E98E}"/>
              </a:ext>
            </a:extLst>
          </p:cNvPr>
          <p:cNvSpPr/>
          <p:nvPr/>
        </p:nvSpPr>
        <p:spPr>
          <a:xfrm>
            <a:off x="9229880" y="3391168"/>
            <a:ext cx="165049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58323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</a:t>
            </a: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60120" y="4599432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“실행→관찰→수정”을 빠르게 반복하며 학습합니다.</a:t>
            </a:r>
            <a:endParaRPr lang="en-US" sz="18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BAC9D75A-DF0A-4E63-993E-1585E8BD25BD}"/>
              </a:ext>
            </a:extLst>
          </p:cNvPr>
          <p:cNvSpPr/>
          <p:nvPr/>
        </p:nvSpPr>
        <p:spPr>
          <a:xfrm>
            <a:off x="133968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5EF735F1-2436-4BE4-B293-808DE9231A19}"/>
              </a:ext>
            </a:extLst>
          </p:cNvPr>
          <p:cNvSpPr/>
          <p:nvPr/>
        </p:nvSpPr>
        <p:spPr>
          <a:xfrm>
            <a:off x="131225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</a:t>
            </a: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altLang="ko-KR" sz="16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C75B5BD5-AC24-4B12-B9C4-3F83115D5040}"/>
              </a:ext>
            </a:extLst>
          </p:cNvPr>
          <p:cNvSpPr/>
          <p:nvPr/>
        </p:nvSpPr>
        <p:spPr>
          <a:xfrm>
            <a:off x="3013036" y="3400671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E9B801D-FAE8-4C2F-A72B-1A396C590F9D}"/>
              </a:ext>
            </a:extLst>
          </p:cNvPr>
          <p:cNvSpPr/>
          <p:nvPr/>
        </p:nvSpPr>
        <p:spPr>
          <a:xfrm>
            <a:off x="3305644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254012ED-9AE4-476C-8B74-90146C8DD488}"/>
              </a:ext>
            </a:extLst>
          </p:cNvPr>
          <p:cNvSpPr/>
          <p:nvPr/>
        </p:nvSpPr>
        <p:spPr>
          <a:xfrm>
            <a:off x="3278212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인터프리터</a:t>
            </a:r>
            <a:endParaRPr lang="en-US" altLang="ko-KR" sz="16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954EAFC4-536C-4F3A-83B0-0F2A96C82866}"/>
              </a:ext>
            </a:extLst>
          </p:cNvPr>
          <p:cNvSpPr/>
          <p:nvPr/>
        </p:nvSpPr>
        <p:spPr>
          <a:xfrm>
            <a:off x="4983568" y="3405243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4FF2D6E4-23D1-4AB2-ACFB-69DD846C2F6C}"/>
              </a:ext>
            </a:extLst>
          </p:cNvPr>
          <p:cNvSpPr/>
          <p:nvPr/>
        </p:nvSpPr>
        <p:spPr>
          <a:xfrm>
            <a:off x="5267032" y="3176643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7CED132C-4041-4BD9-B31C-FF01001BC5BF}"/>
              </a:ext>
            </a:extLst>
          </p:cNvPr>
          <p:cNvSpPr/>
          <p:nvPr/>
        </p:nvSpPr>
        <p:spPr>
          <a:xfrm>
            <a:off x="5239600" y="3341235"/>
            <a:ext cx="166420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바이트코드</a:t>
            </a:r>
            <a:endParaRPr lang="en-US" altLang="ko-KR" sz="16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B18DB7E-541D-45B3-B61A-001C28F1BF27}"/>
              </a:ext>
            </a:extLst>
          </p:cNvPr>
          <p:cNvSpPr/>
          <p:nvPr/>
        </p:nvSpPr>
        <p:spPr>
          <a:xfrm>
            <a:off x="6931240" y="3414387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181F8515-238E-4D72-815B-332A3BC279E4}"/>
              </a:ext>
            </a:extLst>
          </p:cNvPr>
          <p:cNvSpPr/>
          <p:nvPr/>
        </p:nvSpPr>
        <p:spPr>
          <a:xfrm>
            <a:off x="7242136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0C2DCE71-4F68-4A72-9603-982A37F9276A}"/>
              </a:ext>
            </a:extLst>
          </p:cNvPr>
          <p:cNvSpPr/>
          <p:nvPr/>
        </p:nvSpPr>
        <p:spPr>
          <a:xfrm>
            <a:off x="7322280" y="3373238"/>
            <a:ext cx="157349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VM</a:t>
            </a:r>
            <a:endParaRPr lang="en-US" altLang="ko-KR" sz="160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C1FF38B4-D879-4A7F-BD4A-B53FAC0E0653}"/>
              </a:ext>
            </a:extLst>
          </p:cNvPr>
          <p:cNvSpPr/>
          <p:nvPr/>
        </p:nvSpPr>
        <p:spPr>
          <a:xfrm>
            <a:off x="8906344" y="3419138"/>
            <a:ext cx="256032" cy="52120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8C758B80-4B6D-4870-88B0-D6AAAD48DDAD}"/>
              </a:ext>
            </a:extLst>
          </p:cNvPr>
          <p:cNvSpPr/>
          <p:nvPr/>
        </p:nvSpPr>
        <p:spPr>
          <a:xfrm>
            <a:off x="9203524" y="3199682"/>
            <a:ext cx="16367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164C496C-487A-4998-A54C-9BD5442E407C}"/>
              </a:ext>
            </a:extLst>
          </p:cNvPr>
          <p:cNvSpPr/>
          <p:nvPr/>
        </p:nvSpPr>
        <p:spPr>
          <a:xfrm>
            <a:off x="9229880" y="3391168"/>
            <a:ext cx="165049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6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9026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 </a:t>
            </a: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581912"/>
            <a:ext cx="5112868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1~8주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1주: 프로그래밍 언어 구조와 LLM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2주: 파이썬 환경 구축 &amp; Hello World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3주: 변수·자료형·연산자 + LLM 연습문제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4주: 조건문·반복문 + LLM 연습문제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5주: 함수·라이브러리 + LLM 연습문제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6주: 리스트 자료구조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7주: 튜플·딕셔너리·집합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8주: 시험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0148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0148" y="1581912"/>
            <a:ext cx="5112868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0188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9~15주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0188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9주: 파일 입출력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10주: NumPy·Pandas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11주: Matplotlib(그래프)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12주: 필터링·정렬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13주: 쓰레드·미니게임 + LLM 연습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14주: 개인별 창의적 프로그램 과제 발표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15주: 시험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문법(Syntax) vs 의미(Semantics)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문법 오류: 실행 전에 멈춤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의미/논리 오류: 실행은 되지만 결과가 틀릴 수 있음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scores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avg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&lt;- 의도는 3으로 나누기!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오류: “규칙대로 안 써서” 실행 자체가 불가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오류: “의도와 다르게” 계산/처리가 진행됨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습관: 작은 단위로 실행하고, 결과를 자주 확인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오류의 3종류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581912"/>
            <a:ext cx="5112868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Syntax Error (</a:t>
            </a:r>
            <a:r>
              <a:rPr lang="ko-KR" alt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</a:t>
            </a:r>
            <a:r>
              <a:rPr lang="en-US" altLang="ko-KR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규칙 위반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괄호/따옴표 누락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“실행 전”에 발견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0148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0148" y="1581912"/>
            <a:ext cx="5112868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0188" y="1810511"/>
            <a:ext cx="4472788" cy="798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Runtime(</a:t>
            </a:r>
            <a:r>
              <a:rPr lang="ko-KR" alt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</a:t>
            </a:r>
            <a:r>
              <a:rPr lang="en-US" altLang="ko-KR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Logic(</a:t>
            </a:r>
            <a:r>
              <a:rPr lang="ko-KR" alt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altLang="ko-KR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0188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endParaRPr lang="en-US" sz="18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Error(Exception): 실행 중 예외 발생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0으로 나누기, 인덱스 범위 오류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Error: 실행은 되나 답이 틀림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평균 계산에서 잘못 나누기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기본 루틴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재현: 입력/환경을 고정하고 “언제, 어떻게” 오류가 나는지 확인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Traceback 읽기: 에러 종류(Error Type)와 줄 번호(Line)를 먼저 본다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재현 코드(MRE, Minimal Reproducible Example) </a:t>
            </a:r>
            <a:r>
              <a:rPr lang="en-US" sz="2200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b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문제를 가장 작은 형태로 줄인다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→ 한 번에 한 가지 변경 → 다시 실행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테스트: 정상 케이스 + 경계(엣지) 케이스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AI 코딩: 역할 분담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581912"/>
            <a:ext cx="5112868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사람(나)의 역할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&amp; 요구사항 정리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입력/출력 예시 만들기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판단(정답/품질/윤리)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실행·테스트·검증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0148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0148" y="1581912"/>
            <a:ext cx="5112868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0188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AI(LLM)의 역할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0188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코드/여러 접근 제시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설명/요약/예시 생성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원인 후보 제안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가독성 개선(리팩터링) 제안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LLM(대규모 언어모델)이란?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대량의 텍스트/코드 데이터를 학습해 “다음 단어(토큰)”를 예측하는 모델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질문에 대해 그럴듯한 답을 만들어내지만, 항상 사실/정답을 보장하지는 않는다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따라서: AI 답변은 “초안”이며, 실행/검증이 필수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입력(프롬프트) → 좋은 출력(답변/코드) 확률이 올라간다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잘하는 것 / 조심할 것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581912"/>
            <a:ext cx="5112868" cy="118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88720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것(활용 추천)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2267712"/>
            <a:ext cx="447278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코드/템플릿 생성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개념을 쉬운 말로 설명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주석/문서화 초안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리팩터링 아이디어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0148" y="1581912"/>
            <a:ext cx="511286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210148" y="1581912"/>
            <a:ext cx="5112868" cy="1188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30188" y="1810512"/>
            <a:ext cx="44727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조심할 것(검증 필요)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0188" y="2267712"/>
            <a:ext cx="4792828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내용도 확신 있게 말할 수 있음(환각)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환경/버전에 따라 코드는 바로 안 될 수 있음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보안/개인정보/저작권 이슈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“정답처럼 보이는 오답”에 주의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안전하고 똑똑한 사용 원칙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맥락을 충분히 제공: 목표, 입력/출력 예시, 제한 조건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형식을 요구: 표/목록/코드/단계별 절차 등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필수: 실행, 테스트, 공식 문서 확인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개인정보/민감정보는 입력하지 않기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사용 내역을 기록(프롬프트/수정 사항)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무엇을 해주는가</a:t>
            </a:r>
            <a:r>
              <a:rPr lang="en-US" altLang="ko-KR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(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관점</a:t>
            </a:r>
            <a:r>
              <a:rPr lang="en-US" altLang="ko-KR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r>
              <a:rPr lang="en-US" altLang="ko-KR" sz="2400" b="1" dirty="0" err="1"/>
              <a:t>ChatGPT</a:t>
            </a:r>
            <a:r>
              <a:rPr lang="en-US" altLang="ko-KR" sz="2400" b="1" dirty="0"/>
              <a:t> = </a:t>
            </a:r>
            <a:r>
              <a:rPr lang="ko-KR" altLang="en-US" sz="2400" b="1" dirty="0"/>
              <a:t>코딩을 돕는 </a:t>
            </a:r>
            <a:r>
              <a:rPr lang="en-US" altLang="ko-KR" sz="2400" b="1" dirty="0"/>
              <a:t>LLM </a:t>
            </a:r>
            <a:r>
              <a:rPr lang="ko-KR" altLang="en-US" sz="2400" b="1" dirty="0"/>
              <a:t>기반 대화형 도구</a:t>
            </a:r>
            <a:endParaRPr lang="en-US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/>
              <a:t>자연어</a:t>
            </a:r>
            <a:r>
              <a:rPr lang="en-US" altLang="ko-KR" sz="2200" dirty="0"/>
              <a:t>(</a:t>
            </a:r>
            <a:r>
              <a:rPr lang="ko-KR" altLang="en-US" sz="2200" dirty="0"/>
              <a:t>한국어</a:t>
            </a:r>
            <a:r>
              <a:rPr lang="en-US" altLang="ko-KR" sz="2200" dirty="0"/>
              <a:t>/</a:t>
            </a:r>
            <a:r>
              <a:rPr lang="ko-KR" altLang="en-US" sz="2200" dirty="0"/>
              <a:t>영어 등</a:t>
            </a:r>
            <a:r>
              <a:rPr lang="en-US" altLang="ko-KR" sz="2200" dirty="0"/>
              <a:t>)</a:t>
            </a:r>
            <a:r>
              <a:rPr lang="ko-KR" altLang="en-US" sz="2200" dirty="0"/>
              <a:t>로 </a:t>
            </a:r>
            <a:r>
              <a:rPr lang="ko-KR" altLang="en-US" sz="2200" b="1" dirty="0"/>
              <a:t>요구사항을 설명</a:t>
            </a:r>
            <a:r>
              <a:rPr lang="ko-KR" altLang="en-US" sz="2200" dirty="0"/>
              <a:t>하면</a:t>
            </a:r>
            <a:br>
              <a:rPr lang="ko-KR" altLang="en-US" sz="2200" dirty="0"/>
            </a:br>
            <a:r>
              <a:rPr lang="ko-KR" altLang="en-US" sz="2200" dirty="0"/>
              <a:t>  → 코드</a:t>
            </a:r>
            <a:r>
              <a:rPr lang="en-US" altLang="ko-KR" sz="2200" dirty="0"/>
              <a:t>/</a:t>
            </a:r>
            <a:r>
              <a:rPr lang="ko-KR" altLang="en-US" sz="2200" dirty="0"/>
              <a:t>설계</a:t>
            </a:r>
            <a:r>
              <a:rPr lang="en-US" altLang="ko-KR" sz="2200" dirty="0"/>
              <a:t>/</a:t>
            </a:r>
            <a:r>
              <a:rPr lang="ko-KR" altLang="en-US" sz="2200" dirty="0"/>
              <a:t>설명</a:t>
            </a:r>
            <a:r>
              <a:rPr lang="en-US" altLang="ko-KR" sz="2200" dirty="0"/>
              <a:t>/</a:t>
            </a:r>
            <a:r>
              <a:rPr lang="ko-KR" altLang="en-US" sz="2200" dirty="0"/>
              <a:t>수정안을 만들어준다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200" dirty="0"/>
              <a:t>개발 흐름에서 하는 역할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b="1" dirty="0"/>
              <a:t>생성</a:t>
            </a:r>
            <a:r>
              <a:rPr lang="en-US" altLang="ko-KR" sz="2200" dirty="0"/>
              <a:t>: </a:t>
            </a:r>
            <a:r>
              <a:rPr lang="ko-KR" altLang="en-US" sz="2200" dirty="0"/>
              <a:t>초안 코드</a:t>
            </a:r>
            <a:r>
              <a:rPr lang="en-US" altLang="ko-KR" sz="2200" dirty="0"/>
              <a:t>, </a:t>
            </a:r>
            <a:r>
              <a:rPr lang="ko-KR" altLang="en-US" sz="2200" dirty="0"/>
              <a:t>함수 템플릿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b="1" dirty="0"/>
              <a:t>설명</a:t>
            </a:r>
            <a:r>
              <a:rPr lang="en-US" altLang="ko-KR" sz="2200" dirty="0"/>
              <a:t>: </a:t>
            </a:r>
            <a:r>
              <a:rPr lang="ko-KR" altLang="en-US" sz="2200" dirty="0"/>
              <a:t>코드 해석</a:t>
            </a:r>
            <a:r>
              <a:rPr lang="en-US" altLang="ko-KR" sz="2200" dirty="0"/>
              <a:t>, </a:t>
            </a:r>
            <a:r>
              <a:rPr lang="ko-KR" altLang="en-US" sz="2200" dirty="0"/>
              <a:t>개념 정리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b="1" dirty="0"/>
              <a:t>개선</a:t>
            </a:r>
            <a:r>
              <a:rPr lang="en-US" altLang="ko-KR" sz="2200" dirty="0"/>
              <a:t>: </a:t>
            </a:r>
            <a:r>
              <a:rPr lang="ko-KR" altLang="en-US" sz="2200" dirty="0" err="1"/>
              <a:t>리팩터링</a:t>
            </a:r>
            <a:r>
              <a:rPr lang="en-US" altLang="ko-KR" sz="2200" dirty="0"/>
              <a:t>/</a:t>
            </a:r>
            <a:r>
              <a:rPr lang="ko-KR" altLang="en-US" sz="2200" dirty="0"/>
              <a:t>가독성</a:t>
            </a:r>
            <a:r>
              <a:rPr lang="en-US" altLang="ko-KR" sz="2200" dirty="0"/>
              <a:t>/</a:t>
            </a:r>
            <a:r>
              <a:rPr lang="ko-KR" altLang="en-US" sz="2200" dirty="0"/>
              <a:t>스타일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2200" b="1" dirty="0"/>
              <a:t>디버깅</a:t>
            </a:r>
            <a:r>
              <a:rPr lang="en-US" altLang="ko-KR" sz="2200" dirty="0"/>
              <a:t>: </a:t>
            </a:r>
            <a:r>
              <a:rPr lang="ko-KR" altLang="en-US" sz="2200" dirty="0"/>
              <a:t>에러 원인 추정</a:t>
            </a:r>
            <a:r>
              <a:rPr lang="en-US" altLang="ko-KR" sz="2200" dirty="0"/>
              <a:t>, </a:t>
            </a:r>
            <a:r>
              <a:rPr lang="ko-KR" altLang="en-US" sz="2200" dirty="0"/>
              <a:t>해결 절차 제안</a:t>
            </a:r>
            <a:endParaRPr lang="en-US" altLang="ko-KR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sz="2200" dirty="0"/>
          </a:p>
          <a:p>
            <a:r>
              <a:rPr lang="ko-KR" altLang="en-US" sz="2200" b="1" dirty="0"/>
              <a:t>코딩 관점에서 </a:t>
            </a:r>
            <a:r>
              <a:rPr lang="en-US" altLang="ko-KR" sz="2200" b="1" dirty="0" err="1"/>
              <a:t>ChatGPT</a:t>
            </a:r>
            <a:r>
              <a:rPr lang="ko-KR" altLang="en-US" sz="2200" b="1" dirty="0"/>
              <a:t>는 “</a:t>
            </a:r>
            <a:r>
              <a:rPr lang="ko-KR" altLang="en-US" sz="2200" b="1" dirty="0" err="1"/>
              <a:t>검색기”보다</a:t>
            </a:r>
            <a:r>
              <a:rPr lang="ko-KR" altLang="en-US" sz="2200" b="1" dirty="0"/>
              <a:t> “초안 생성</a:t>
            </a:r>
            <a:r>
              <a:rPr lang="en-US" altLang="ko-KR" sz="2200" b="1" dirty="0"/>
              <a:t>+</a:t>
            </a:r>
            <a:r>
              <a:rPr lang="ko-KR" altLang="en-US" sz="2200" b="1" dirty="0" err="1"/>
              <a:t>코치”에</a:t>
            </a:r>
            <a:r>
              <a:rPr lang="ko-KR" altLang="en-US" sz="2200" b="1" dirty="0"/>
              <a:t> 가깝다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815544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‘좋게’ 물어보는 법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질문 예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“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코드 짜줘”</a:t>
            </a:r>
            <a:endParaRPr lang="en-US" altLang="ko-KR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 템플릿</a:t>
            </a:r>
            <a:endParaRPr lang="en-US" altLang="ko-KR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dirty="0"/>
              <a:t>목표</a:t>
            </a:r>
            <a:r>
              <a:rPr lang="en-US" altLang="ko-KR" dirty="0"/>
              <a:t>: </a:t>
            </a:r>
            <a:r>
              <a:rPr lang="ko-KR" altLang="en-US" dirty="0"/>
              <a:t>무엇을 만들고 </a:t>
            </a:r>
            <a:r>
              <a:rPr lang="ko-KR" altLang="en-US" dirty="0" err="1"/>
              <a:t>싶은지</a:t>
            </a:r>
            <a:endParaRPr lang="en-US" altLang="ko-KR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dirty="0"/>
              <a:t>입력</a:t>
            </a:r>
            <a:r>
              <a:rPr lang="en-US" altLang="ko-KR" dirty="0"/>
              <a:t>/</a:t>
            </a:r>
            <a:r>
              <a:rPr lang="ko-KR" altLang="en-US" dirty="0"/>
              <a:t>출력</a:t>
            </a:r>
            <a:r>
              <a:rPr lang="en-US" altLang="ko-KR" dirty="0"/>
              <a:t>: </a:t>
            </a:r>
            <a:r>
              <a:rPr lang="ko-KR" altLang="en-US" dirty="0"/>
              <a:t>예시 </a:t>
            </a:r>
            <a:r>
              <a:rPr lang="en-US" altLang="ko-KR" dirty="0"/>
              <a:t>1~2</a:t>
            </a:r>
            <a:r>
              <a:rPr lang="ko-KR" altLang="en-US" dirty="0"/>
              <a:t>개</a:t>
            </a:r>
            <a:endParaRPr lang="en-US" altLang="ko-KR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dirty="0"/>
              <a:t>제약</a:t>
            </a:r>
            <a:r>
              <a:rPr lang="en-US" altLang="ko-KR" dirty="0"/>
              <a:t>: </a:t>
            </a:r>
            <a:r>
              <a:rPr lang="ko-KR" altLang="en-US" dirty="0"/>
              <a:t>라이브러리</a:t>
            </a:r>
            <a:r>
              <a:rPr lang="en-US" altLang="ko-KR" dirty="0"/>
              <a:t>/</a:t>
            </a:r>
            <a:r>
              <a:rPr lang="ko-KR" altLang="en-US" dirty="0"/>
              <a:t>성능</a:t>
            </a:r>
            <a:r>
              <a:rPr lang="en-US" altLang="ko-KR" dirty="0"/>
              <a:t>/</a:t>
            </a:r>
            <a:r>
              <a:rPr lang="ko-KR" altLang="en-US" dirty="0"/>
              <a:t>금지 조건</a:t>
            </a:r>
            <a:endParaRPr lang="en-US" altLang="ko-KR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dirty="0"/>
              <a:t>형식</a:t>
            </a:r>
            <a:r>
              <a:rPr lang="en-US" altLang="ko-KR" dirty="0"/>
              <a:t>: “</a:t>
            </a:r>
            <a:r>
              <a:rPr lang="ko-KR" altLang="en-US" dirty="0"/>
              <a:t>코드만”</a:t>
            </a:r>
            <a:r>
              <a:rPr lang="en-US" altLang="ko-KR" dirty="0"/>
              <a:t>, “</a:t>
            </a:r>
            <a:r>
              <a:rPr lang="ko-KR" altLang="en-US" dirty="0"/>
              <a:t>설명 포함”</a:t>
            </a:r>
            <a:r>
              <a:rPr lang="en-US" altLang="ko-KR" dirty="0"/>
              <a:t>, “</a:t>
            </a:r>
            <a:r>
              <a:rPr lang="ko-KR" altLang="en-US" dirty="0"/>
              <a:t>단계별”</a:t>
            </a:r>
            <a:endParaRPr lang="en-US" altLang="ko-KR" dirty="0"/>
          </a:p>
          <a:p>
            <a:r>
              <a:rPr lang="ko-KR" altLang="en-US" sz="2400" b="1" dirty="0"/>
              <a:t>예시</a:t>
            </a:r>
            <a:endParaRPr lang="ko-KR" altLang="en-US" sz="2400" dirty="0"/>
          </a:p>
          <a:p>
            <a:r>
              <a:rPr lang="ko-KR" altLang="en-US" sz="2400" dirty="0">
                <a:highlight>
                  <a:srgbClr val="C0C0C0"/>
                </a:highlight>
              </a:rPr>
              <a:t>“정수 리스트가 주어지면 평균을 반환하는 함수를 작성해줘</a:t>
            </a:r>
            <a:r>
              <a:rPr lang="en-US" altLang="ko-KR" sz="2400" dirty="0">
                <a:highlight>
                  <a:srgbClr val="C0C0C0"/>
                </a:highlight>
              </a:rPr>
              <a:t>.</a:t>
            </a:r>
            <a:br>
              <a:rPr lang="en-US" altLang="ko-KR" sz="2400" dirty="0">
                <a:highlight>
                  <a:srgbClr val="C0C0C0"/>
                </a:highlight>
              </a:rPr>
            </a:br>
            <a:r>
              <a:rPr lang="ko-KR" altLang="en-US" sz="2400" dirty="0">
                <a:highlight>
                  <a:srgbClr val="C0C0C0"/>
                </a:highlight>
              </a:rPr>
              <a:t>입력 예</a:t>
            </a:r>
            <a:r>
              <a:rPr lang="en-US" altLang="ko-KR" sz="2400" dirty="0">
                <a:highlight>
                  <a:srgbClr val="C0C0C0"/>
                </a:highlight>
              </a:rPr>
              <a:t>: [1,2,3] → </a:t>
            </a:r>
            <a:r>
              <a:rPr lang="ko-KR" altLang="en-US" sz="2400" dirty="0">
                <a:highlight>
                  <a:srgbClr val="C0C0C0"/>
                </a:highlight>
              </a:rPr>
              <a:t>출력</a:t>
            </a:r>
            <a:r>
              <a:rPr lang="en-US" altLang="ko-KR" sz="2400" dirty="0">
                <a:highlight>
                  <a:srgbClr val="C0C0C0"/>
                </a:highlight>
              </a:rPr>
              <a:t>: 2.0</a:t>
            </a:r>
            <a:br>
              <a:rPr lang="en-US" altLang="ko-KR" sz="2400" dirty="0">
                <a:highlight>
                  <a:srgbClr val="C0C0C0"/>
                </a:highlight>
              </a:rPr>
            </a:br>
            <a:r>
              <a:rPr lang="ko-KR" altLang="en-US" sz="2400" dirty="0">
                <a:highlight>
                  <a:srgbClr val="C0C0C0"/>
                </a:highlight>
              </a:rPr>
              <a:t>예외</a:t>
            </a:r>
            <a:r>
              <a:rPr lang="en-US" altLang="ko-KR" sz="2400" dirty="0">
                <a:highlight>
                  <a:srgbClr val="C0C0C0"/>
                </a:highlight>
              </a:rPr>
              <a:t>: </a:t>
            </a:r>
            <a:r>
              <a:rPr lang="ko-KR" altLang="en-US" sz="2400" dirty="0">
                <a:highlight>
                  <a:srgbClr val="C0C0C0"/>
                </a:highlight>
              </a:rPr>
              <a:t>빈 리스트면 </a:t>
            </a:r>
            <a:r>
              <a:rPr lang="en-US" altLang="ko-KR" sz="2400" dirty="0">
                <a:highlight>
                  <a:srgbClr val="C0C0C0"/>
                </a:highlight>
              </a:rPr>
              <a:t>None </a:t>
            </a:r>
            <a:r>
              <a:rPr lang="ko-KR" altLang="en-US" sz="2400" dirty="0">
                <a:highlight>
                  <a:srgbClr val="C0C0C0"/>
                </a:highlight>
              </a:rPr>
              <a:t>반환</a:t>
            </a:r>
            <a:r>
              <a:rPr lang="en-US" altLang="ko-KR" sz="2400" dirty="0">
                <a:highlight>
                  <a:srgbClr val="C0C0C0"/>
                </a:highlight>
              </a:rPr>
              <a:t>. </a:t>
            </a:r>
            <a:r>
              <a:rPr lang="ko-KR" altLang="en-US" sz="2400" dirty="0">
                <a:highlight>
                  <a:srgbClr val="C0C0C0"/>
                </a:highlight>
              </a:rPr>
              <a:t>파이썬 함수로</a:t>
            </a:r>
            <a:r>
              <a:rPr lang="en-US" altLang="ko-KR" sz="2400" dirty="0">
                <a:highlight>
                  <a:srgbClr val="C0C0C0"/>
                </a:highlight>
              </a:rPr>
              <a:t>.”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19390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</a:t>
            </a:r>
            <a:r>
              <a:rPr lang="en-US" altLang="ko-KR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답변은 항상 검증한다 </a:t>
            </a:r>
            <a:r>
              <a:rPr lang="en-US" altLang="ko-KR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규칙</a:t>
            </a:r>
            <a:r>
              <a:rPr lang="en-US" altLang="ko-KR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실행해보기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돌려서 동작 확인</a:t>
            </a:r>
            <a:endParaRPr lang="en-US" altLang="ko-KR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추가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200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케이스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200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빈값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0, 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값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 공유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전문을 그대로 붙여넣기</a:t>
            </a:r>
            <a:endParaRPr lang="en-US" altLang="ko-KR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재확인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r>
              <a:rPr lang="en-US" altLang="ko-KR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 조건</a:t>
            </a:r>
            <a:endParaRPr lang="en-US" altLang="ko-KR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endParaRPr lang="en-US" sz="2200" dirty="0">
              <a:solidFill>
                <a:srgbClr val="0F172A"/>
              </a:solidFill>
              <a:latin typeface="Malgun Gothic" pitchFamily="34" charset="0"/>
              <a:ea typeface="Malgun Gothic" pitchFamily="34" charset="-122"/>
            </a:endParaRPr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200" dirty="0"/>
              <a:t>자주 하는 실수들</a:t>
            </a:r>
            <a:endParaRPr lang="en-US" altLang="ko-KR" sz="2200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000" dirty="0"/>
              <a:t>경로</a:t>
            </a:r>
            <a:r>
              <a:rPr lang="en-US" altLang="ko-KR" sz="2000" dirty="0"/>
              <a:t>/</a:t>
            </a:r>
            <a:r>
              <a:rPr lang="ko-KR" altLang="en-US" sz="2000" dirty="0"/>
              <a:t>파일 위치</a:t>
            </a:r>
            <a:r>
              <a:rPr lang="en-US" altLang="ko-KR" sz="2000" dirty="0"/>
              <a:t>(</a:t>
            </a:r>
            <a:r>
              <a:rPr lang="ko-KR" altLang="en-US" sz="2000" dirty="0"/>
              <a:t>작업 폴더</a:t>
            </a:r>
            <a:r>
              <a:rPr lang="en-US" altLang="ko-KR" sz="2000" dirty="0"/>
              <a:t>) </a:t>
            </a:r>
            <a:r>
              <a:rPr lang="ko-KR" altLang="en-US" sz="2000" dirty="0"/>
              <a:t>문제</a:t>
            </a:r>
            <a:endParaRPr lang="en-US" altLang="ko-KR" sz="2000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000" dirty="0"/>
              <a:t>입력 형식 가정이 틀림</a:t>
            </a:r>
            <a:endParaRPr lang="en-US" altLang="ko-KR" sz="2000" dirty="0"/>
          </a:p>
          <a:p>
            <a:pPr marL="812800" lvl="1" indent="-355600">
              <a:lnSpc>
                <a:spcPct val="115000"/>
              </a:lnSpc>
              <a:buSzPct val="100000"/>
              <a:buChar char="•"/>
            </a:pPr>
            <a:r>
              <a:rPr lang="ko-KR" altLang="en-US" sz="2000" dirty="0"/>
              <a:t>예외 처리 누락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3938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너는 친절한 파이썬 튜터야.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아래 코드를 초보가 이해하도록 설명해줘.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맥락: 나는 1학년이고 변수/반복문을 막 배우기 시작했어.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제약: 어려운 용어는 최소화하고, 핵심을 5줄로 요약해줘.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출력 형식: (1) 한 줄 요약 (2) 줄별 설명 (3) 실수하기 쉬운 포인트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코드: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```python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여기에 코드 붙여넣기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역할(Role): 어떤 전문가처럼 답할지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목표(Goal): 무엇을 얻고 싶은지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맥락(Context): 내 수준/상황/전제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제약(Constraints): 분량, 금지사항, 기준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형식(Format): 표/목록/코드/JSON 등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코드 설명받기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“줄별 설명 + 쉬운 비유 1개”를 요구해보기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동작을 sum()로 다시 작성하도록 요청해보기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결과(15)가 왜 나오는지 스스로 말할 수 있으면 성공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2: 오류 메시지로 디버깅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Traceback(예시)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# IndexError: list index out of range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“원인 1줄 + 해결 2가지 + 예방 팁 1개” 형태로 답하게 해보기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해결안이 여러 개면: “어느 경우에 어떤 해결안이 좋은지”까지 질문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답은 내가 이해한 뒤 선택한다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3: 리팩터링(가독성 개선)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566928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"sum="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581912"/>
            <a:ext cx="446501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581912"/>
            <a:ext cx="4465015" cy="1188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78040" y="1810512"/>
            <a:ext cx="38249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78040" y="2267712"/>
            <a:ext cx="382493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“변수 이름 개선 + 주석 2줄 + 출력 동일”을 요구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스타일(띄어쓰기, 줄바꿈)을 정돈해달라고 요청</a:t>
            </a:r>
            <a:endParaRPr lang="en-US" sz="1800" dirty="0"/>
          </a:p>
          <a:p>
            <a:pPr marL="304800" indent="-30480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리팩터링 후에도 동작이 같다는 걸 확인(테스트)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답변 검증 체크리스트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직접 실행했는가?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요구사항/제약을 모두 만족하는가?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경계(엣지) 케이스를 생각해봤는가?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라이브러리/버전이 맞는가?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“왜 이렇게 동작하는지” 설명할 수 있는가?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5742432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검증하지 않은 AI 답변은 “참고 의견”일 뿐입니다.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퀴즈(5문항)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9631375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문법 오류(Syntax Error)는 보통 언제 발견될까?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A. 실행 중  B. 실행 전  C. 테스트 후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LLM 답변에 대한 올바른 태도는?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A. 무조건 믿는다  B. 참고하고 검증한다  C. 읽지 않는다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디버깅의 첫 단계로 가장 좋은 것은?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A. 랜덤 수정  B. 증상 재현  C. 코드 전체 삭제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좋은 프롬프트에 포함되면 좋은 요소가 아닌 것은?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A. 목표  B. 출력 형식  C. 개인정보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논리 오류(Logic Error)의 특징은?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A. 실행 불가  B. 실행 가능하지만 결과가 틀림  C. 컴파일이 느림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312" y="5970315"/>
            <a:ext cx="9631375" cy="502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08912" y="6043467"/>
            <a:ext cx="9174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1-B, 2-B, 3-B, 4-C, 5-B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과제/연습문제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3종 작성: (1) 설명 요청 (2) 디버깅 요청 (3) 리팩터링 요청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프롬프트에 대한 AI 답변을 받고, “검증/수정”한 내용을 함께 정리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제출물에는 다음을 포함: 프롬프트, AI 답변 요약, 내가 수정한 점, 배운 점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개인정보/민감정보는 포함하지 않기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5742432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“AI를 써서 더 빨리”가 아니라 “AI와 함께 더 정확히”입니다.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AI활용프로그래밍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265615" y="128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74375" y="66202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58952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&amp; 다음 주 예고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" y="1353312"/>
            <a:ext cx="20116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68680" y="1581912"/>
            <a:ext cx="104543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1901952"/>
            <a:ext cx="9631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언어는 문법·의미·실행 구조로 이해할 수 있다.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문법/런타임/논리로 나뉘며, 디버깅은 “재현→분리→검증”이다.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강력한 도우미지만, 답변 검증과 기록이 필수다.</a:t>
            </a:r>
            <a:endParaRPr lang="en-US" sz="2200" dirty="0"/>
          </a:p>
          <a:p>
            <a:pPr marL="355600" indent="-355600">
              <a:lnSpc>
                <a:spcPct val="115000"/>
              </a:lnSpc>
              <a:buSzPct val="100000"/>
              <a:buChar char="•"/>
            </a:pPr>
            <a:r>
              <a:rPr lang="en-US" sz="2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주: 파이썬 개발환경 구축 + Hello World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5742432"/>
            <a:ext cx="96313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수업 전: 노트북 준비(가능하면 Python/VS Code 설치 시도).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2112</Words>
  <Application>Microsoft Office PowerPoint</Application>
  <PresentationFormat>와이드스크린</PresentationFormat>
  <Paragraphs>339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컴퓨터학부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Week 1 · 프로그래밍 언어 구조와 LLM</dc:subject>
  <dc:creator>AI활용프로그래밍</dc:creator>
  <cp:lastModifiedBy>이영호</cp:lastModifiedBy>
  <cp:revision>11</cp:revision>
  <dcterms:created xsi:type="dcterms:W3CDTF">2026-01-25T10:17:43Z</dcterms:created>
  <dcterms:modified xsi:type="dcterms:W3CDTF">2026-03-10T06:55:44Z</dcterms:modified>
</cp:coreProperties>
</file>