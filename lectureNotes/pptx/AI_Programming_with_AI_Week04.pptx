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5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897112" y="3931920"/>
            <a:ext cx="3840480" cy="38404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601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103601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0">
                <a:solidFill>
                  <a:srgbClr val="D1FAE5"/>
                </a:solidFill>
                <a:latin typeface="Malgun Gothic"/>
              </a:rPr>
              <a:t>Week 4. 조건문과 반복문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46120"/>
            <a:ext cx="10360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E2E8F0"/>
                </a:solidFill>
                <a:latin typeface="Malgun Gothic"/>
              </a:rPr>
              <a:t>상황에 따라 다르게 · 여러 번 되풀이하기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학습 목표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상황에 따라 다르게 동작하는 코드를 쓸 수 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같은 일을 여러 번 되풀이하게 할 수 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들여쓰기가 무엇을 묶는지 설명할 수 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멈추지 않는 반복을 알아보고 고칠 수 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3/27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오늘의 구성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26289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1)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조건에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따라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갈라지는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코드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2)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들여쓰기가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정하는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묶음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3)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정해진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횟수만큼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되풀이하기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4)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조건이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맞는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동안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되풀이하기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5) With AI —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틀린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코드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고치기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실습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3개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4/27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조건문이 필요한 이유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지금까지 코드는 위에서 아래로 한 줄씩 실행됐습니다.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그런데 현실은 상황에 따라 답이 달라집니다.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점수가 90점이면 A, 아니면 다른 등급입니다.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이 갈림길을 만드는 것이 조건문입니다.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5/27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조건이 맞을 때만 실행하기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score = 95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if score &gt;= 90: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print("A")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if 뒤의 조건이 맞으면 안쪽 줄을 실행합니다.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조건 줄 끝에는 콜론(:)을 붙입니다.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95는 90보다 크므로 A가 나옵니다.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5715000"/>
            <a:ext cx="10451592" cy="77724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68680" y="5715000"/>
            <a:ext cx="9144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43000" y="579729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92400E"/>
                </a:solidFill>
                <a:latin typeface="Malgun Gothic"/>
              </a:rPr>
              <a:t>📖 용어 노트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5779008"/>
            <a:ext cx="8503920" cy="490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dirty="0" err="1">
                <a:solidFill>
                  <a:srgbClr val="78350F"/>
                </a:solidFill>
                <a:latin typeface="Malgun Gothic"/>
              </a:rPr>
              <a:t>조건문</a:t>
            </a:r>
            <a:r>
              <a:rPr sz="1300" b="0" dirty="0">
                <a:solidFill>
                  <a:srgbClr val="78350F"/>
                </a:solidFill>
                <a:latin typeface="Malgun Gothic"/>
              </a:rPr>
              <a:t>(if) — '</a:t>
            </a:r>
            <a:r>
              <a:rPr sz="1300" b="0" dirty="0" err="1">
                <a:solidFill>
                  <a:srgbClr val="78350F"/>
                </a:solidFill>
                <a:latin typeface="Malgun Gothic"/>
              </a:rPr>
              <a:t>만약</a:t>
            </a:r>
            <a:r>
              <a:rPr sz="1300" b="0" dirty="0">
                <a:solidFill>
                  <a:srgbClr val="78350F"/>
                </a:solidFill>
                <a:latin typeface="Malgun Gothic"/>
              </a:rPr>
              <a:t> ~</a:t>
            </a:r>
            <a:r>
              <a:rPr sz="1300" b="0" dirty="0" err="1">
                <a:solidFill>
                  <a:srgbClr val="78350F"/>
                </a:solidFill>
                <a:latin typeface="Malgun Gothic"/>
              </a:rPr>
              <a:t>라면'으로</a:t>
            </a:r>
            <a:r>
              <a:rPr sz="1300" b="0" dirty="0">
                <a:solidFill>
                  <a:srgbClr val="78350F"/>
                </a:solidFill>
                <a:latin typeface="Malgun Gothic"/>
              </a:rPr>
              <a:t> </a:t>
            </a:r>
            <a:r>
              <a:rPr sz="1300" b="0" dirty="0" err="1">
                <a:solidFill>
                  <a:srgbClr val="78350F"/>
                </a:solidFill>
                <a:latin typeface="Malgun Gothic"/>
              </a:rPr>
              <a:t>길이</a:t>
            </a:r>
            <a:r>
              <a:rPr sz="1300" b="0" dirty="0">
                <a:solidFill>
                  <a:srgbClr val="78350F"/>
                </a:solidFill>
                <a:latin typeface="Malgun Gothic"/>
              </a:rPr>
              <a:t> </a:t>
            </a:r>
            <a:r>
              <a:rPr sz="1300" b="0" dirty="0" err="1">
                <a:solidFill>
                  <a:srgbClr val="78350F"/>
                </a:solidFill>
                <a:latin typeface="Malgun Gothic"/>
              </a:rPr>
              <a:t>갈리는</a:t>
            </a:r>
            <a:r>
              <a:rPr sz="1300" b="0" dirty="0">
                <a:solidFill>
                  <a:srgbClr val="78350F"/>
                </a:solidFill>
                <a:latin typeface="Malgun Gothic"/>
              </a:rPr>
              <a:t> </a:t>
            </a:r>
            <a:r>
              <a:rPr sz="1300" b="0" dirty="0" err="1">
                <a:solidFill>
                  <a:srgbClr val="78350F"/>
                </a:solidFill>
                <a:latin typeface="Malgun Gothic"/>
              </a:rPr>
              <a:t>문장</a:t>
            </a:r>
            <a:r>
              <a:rPr sz="1300" b="0" dirty="0">
                <a:solidFill>
                  <a:srgbClr val="78350F"/>
                </a:solidFill>
                <a:latin typeface="Malgun Gothic"/>
              </a:rPr>
              <a:t>. </a:t>
            </a:r>
            <a:r>
              <a:rPr sz="1300" b="0" dirty="0" err="1">
                <a:solidFill>
                  <a:srgbClr val="78350F"/>
                </a:solidFill>
                <a:latin typeface="Malgun Gothic"/>
              </a:rPr>
              <a:t>신호등</a:t>
            </a:r>
            <a:r>
              <a:rPr sz="1300" b="0" dirty="0">
                <a:solidFill>
                  <a:srgbClr val="78350F"/>
                </a:solidFill>
                <a:latin typeface="Malgun Gothic"/>
              </a:rPr>
              <a:t> </a:t>
            </a:r>
            <a:r>
              <a:rPr sz="1300" b="0" dirty="0" err="1">
                <a:solidFill>
                  <a:srgbClr val="78350F"/>
                </a:solidFill>
                <a:latin typeface="Malgun Gothic"/>
              </a:rPr>
              <a:t>앞에서</a:t>
            </a:r>
            <a:r>
              <a:rPr sz="1300" b="0" dirty="0">
                <a:solidFill>
                  <a:srgbClr val="78350F"/>
                </a:solidFill>
                <a:latin typeface="Malgun Gothic"/>
              </a:rPr>
              <a:t> </a:t>
            </a:r>
            <a:r>
              <a:rPr sz="1300" b="0" dirty="0" err="1">
                <a:solidFill>
                  <a:srgbClr val="78350F"/>
                </a:solidFill>
                <a:latin typeface="Malgun Gothic"/>
              </a:rPr>
              <a:t>갈지</a:t>
            </a:r>
            <a:r>
              <a:rPr sz="1300" b="0" dirty="0">
                <a:solidFill>
                  <a:srgbClr val="78350F"/>
                </a:solidFill>
                <a:latin typeface="Malgun Gothic"/>
              </a:rPr>
              <a:t> </a:t>
            </a:r>
            <a:r>
              <a:rPr sz="1300" b="0" dirty="0" err="1">
                <a:solidFill>
                  <a:srgbClr val="78350F"/>
                </a:solidFill>
                <a:latin typeface="Malgun Gothic"/>
              </a:rPr>
              <a:t>멈출지</a:t>
            </a:r>
            <a:r>
              <a:rPr sz="1300" b="0" dirty="0">
                <a:solidFill>
                  <a:srgbClr val="78350F"/>
                </a:solidFill>
                <a:latin typeface="Malgun Gothic"/>
              </a:rPr>
              <a:t> </a:t>
            </a:r>
            <a:r>
              <a:rPr sz="1300" b="0" dirty="0" err="1">
                <a:solidFill>
                  <a:srgbClr val="78350F"/>
                </a:solidFill>
                <a:latin typeface="Malgun Gothic"/>
              </a:rPr>
              <a:t>정하는</a:t>
            </a:r>
            <a:r>
              <a:rPr sz="1300" b="0" dirty="0">
                <a:solidFill>
                  <a:srgbClr val="78350F"/>
                </a:solidFill>
                <a:latin typeface="Malgun Gothic"/>
              </a:rPr>
              <a:t> </a:t>
            </a:r>
            <a:r>
              <a:rPr sz="1300" b="0" dirty="0" err="1">
                <a:solidFill>
                  <a:srgbClr val="78350F"/>
                </a:solidFill>
                <a:latin typeface="Malgun Gothic"/>
              </a:rPr>
              <a:t>것과</a:t>
            </a:r>
            <a:r>
              <a:rPr sz="1300" b="0" dirty="0">
                <a:solidFill>
                  <a:srgbClr val="78350F"/>
                </a:solidFill>
                <a:latin typeface="Malgun Gothic"/>
              </a:rPr>
              <a:t> </a:t>
            </a:r>
            <a:r>
              <a:rPr sz="1300" b="0" dirty="0" err="1">
                <a:solidFill>
                  <a:srgbClr val="78350F"/>
                </a:solidFill>
                <a:latin typeface="Malgun Gothic"/>
              </a:rPr>
              <a:t>같습니다</a:t>
            </a:r>
            <a:r>
              <a:rPr sz="1300" b="0" dirty="0">
                <a:solidFill>
                  <a:srgbClr val="78350F"/>
                </a:solidFill>
                <a:latin typeface="Malgun Gothic"/>
              </a:rPr>
              <a:t>.</a:t>
            </a:r>
            <a:endParaRPr lang="en-US" sz="1300" b="0" dirty="0">
              <a:solidFill>
                <a:srgbClr val="78350F"/>
              </a:solidFill>
              <a:latin typeface="Malgun Gothic"/>
            </a:endParaRP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ko-KR" altLang="en-US" sz="1300" b="0" dirty="0">
                <a:solidFill>
                  <a:srgbClr val="78350F"/>
                </a:solidFill>
                <a:latin typeface="Malgun Gothic"/>
              </a:rPr>
              <a:t>조건 줄 끝 콜론</a:t>
            </a:r>
            <a:r>
              <a:rPr lang="en-US" altLang="ko-KR" sz="1300" dirty="0">
                <a:solidFill>
                  <a:srgbClr val="78350F"/>
                </a:solidFill>
                <a:latin typeface="Malgun Gothic"/>
              </a:rPr>
              <a:t>(:) — </a:t>
            </a:r>
            <a:r>
              <a:rPr lang="ko-KR" altLang="en-US" sz="1300" dirty="0">
                <a:solidFill>
                  <a:srgbClr val="78350F"/>
                </a:solidFill>
                <a:latin typeface="Malgun Gothic"/>
              </a:rPr>
              <a:t>나는 문장이 끝나지 않았어요</a:t>
            </a:r>
            <a:r>
              <a:rPr lang="en-US" altLang="ko-KR" sz="1300" dirty="0">
                <a:solidFill>
                  <a:srgbClr val="78350F"/>
                </a:solidFill>
                <a:latin typeface="Malgun Gothic"/>
              </a:rPr>
              <a:t>. </a:t>
            </a:r>
            <a:r>
              <a:rPr lang="ko-KR" altLang="en-US" sz="1300" dirty="0">
                <a:solidFill>
                  <a:srgbClr val="78350F"/>
                </a:solidFill>
                <a:latin typeface="Malgun Gothic"/>
              </a:rPr>
              <a:t>나에게는 따라오는 종속된 문장이 있습니다</a:t>
            </a:r>
            <a:r>
              <a:rPr lang="en-US" altLang="ko-KR" sz="1300" dirty="0">
                <a:solidFill>
                  <a:srgbClr val="78350F"/>
                </a:solidFill>
                <a:latin typeface="Malgun Gothic"/>
              </a:rPr>
              <a:t>.</a:t>
            </a:r>
            <a:endParaRPr sz="1300" b="0" dirty="0">
              <a:solidFill>
                <a:srgbClr val="78350F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6/27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들여쓰기가 묶음을 정합니다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20601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 dirty="0" err="1">
                <a:solidFill>
                  <a:srgbClr val="0F172A"/>
                </a:solidFill>
                <a:latin typeface="Malgun Gothic"/>
              </a:rPr>
              <a:t>조건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줄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다음에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오는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안쪽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줄들이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한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묶음입니다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 dirty="0" err="1">
                <a:solidFill>
                  <a:srgbClr val="0F172A"/>
                </a:solidFill>
                <a:latin typeface="Malgun Gothic"/>
              </a:rPr>
              <a:t>묶음은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앞에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빈칸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네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칸을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넣어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표시합니다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1" dirty="0" err="1">
                <a:solidFill>
                  <a:srgbClr val="FF0000"/>
                </a:solidFill>
                <a:latin typeface="Malgun Gothic"/>
              </a:rPr>
              <a:t>빈칸을</a:t>
            </a:r>
            <a:r>
              <a:rPr sz="2200" b="1" dirty="0">
                <a:solidFill>
                  <a:srgbClr val="FF0000"/>
                </a:solidFill>
                <a:latin typeface="Malgun Gothic"/>
              </a:rPr>
              <a:t> </a:t>
            </a:r>
            <a:r>
              <a:rPr sz="2200" b="1" dirty="0" err="1">
                <a:solidFill>
                  <a:srgbClr val="FF0000"/>
                </a:solidFill>
                <a:latin typeface="Malgun Gothic"/>
              </a:rPr>
              <a:t>빼먹으면</a:t>
            </a:r>
            <a:r>
              <a:rPr sz="2200" b="1" dirty="0">
                <a:solidFill>
                  <a:srgbClr val="FF0000"/>
                </a:solidFill>
                <a:latin typeface="Malgun Gothic"/>
              </a:rPr>
              <a:t> </a:t>
            </a:r>
            <a:r>
              <a:rPr sz="2200" b="1" dirty="0" err="1">
                <a:solidFill>
                  <a:srgbClr val="FF0000"/>
                </a:solidFill>
                <a:latin typeface="Malgun Gothic"/>
              </a:rPr>
              <a:t>오류가</a:t>
            </a:r>
            <a:r>
              <a:rPr sz="2200" b="1" dirty="0">
                <a:solidFill>
                  <a:srgbClr val="FF0000"/>
                </a:solidFill>
                <a:latin typeface="Malgun Gothic"/>
              </a:rPr>
              <a:t> </a:t>
            </a:r>
            <a:r>
              <a:rPr sz="2200" b="1" dirty="0" err="1">
                <a:solidFill>
                  <a:srgbClr val="FF0000"/>
                </a:solidFill>
                <a:latin typeface="Malgun Gothic"/>
              </a:rPr>
              <a:t>납니다</a:t>
            </a:r>
            <a:r>
              <a:rPr sz="2200" b="1" dirty="0">
                <a:solidFill>
                  <a:srgbClr val="FF0000"/>
                </a:solidFill>
                <a:latin typeface="Malgun Gothic"/>
              </a:rPr>
              <a:t>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1" dirty="0" err="1">
                <a:solidFill>
                  <a:srgbClr val="FF0000"/>
                </a:solidFill>
                <a:latin typeface="Malgun Gothic"/>
              </a:rPr>
              <a:t>빈칸</a:t>
            </a:r>
            <a:r>
              <a:rPr sz="2200" b="1" dirty="0">
                <a:solidFill>
                  <a:srgbClr val="FF0000"/>
                </a:solidFill>
                <a:latin typeface="Malgun Gothic"/>
              </a:rPr>
              <a:t> </a:t>
            </a:r>
            <a:r>
              <a:rPr sz="2200" b="1" dirty="0" err="1">
                <a:solidFill>
                  <a:srgbClr val="FF0000"/>
                </a:solidFill>
                <a:latin typeface="Malgun Gothic"/>
              </a:rPr>
              <a:t>개수가</a:t>
            </a:r>
            <a:r>
              <a:rPr sz="2200" b="1" dirty="0">
                <a:solidFill>
                  <a:srgbClr val="FF0000"/>
                </a:solidFill>
                <a:latin typeface="Malgun Gothic"/>
              </a:rPr>
              <a:t> </a:t>
            </a:r>
            <a:r>
              <a:rPr sz="2200" b="1" dirty="0" err="1">
                <a:solidFill>
                  <a:srgbClr val="FF0000"/>
                </a:solidFill>
                <a:latin typeface="Malgun Gothic"/>
              </a:rPr>
              <a:t>들쭉날쭉해도</a:t>
            </a:r>
            <a:r>
              <a:rPr sz="2200" b="1" dirty="0">
                <a:solidFill>
                  <a:srgbClr val="FF0000"/>
                </a:solidFill>
                <a:latin typeface="Malgun Gothic"/>
              </a:rPr>
              <a:t> </a:t>
            </a:r>
            <a:r>
              <a:rPr sz="2200" b="1" dirty="0" err="1">
                <a:solidFill>
                  <a:srgbClr val="FF0000"/>
                </a:solidFill>
                <a:latin typeface="Malgun Gothic"/>
              </a:rPr>
              <a:t>오류가</a:t>
            </a:r>
            <a:r>
              <a:rPr sz="2200" b="1" dirty="0">
                <a:solidFill>
                  <a:srgbClr val="FF0000"/>
                </a:solidFill>
                <a:latin typeface="Malgun Gothic"/>
              </a:rPr>
              <a:t> </a:t>
            </a:r>
            <a:r>
              <a:rPr sz="2200" b="1" dirty="0" err="1">
                <a:solidFill>
                  <a:srgbClr val="FF0000"/>
                </a:solidFill>
                <a:latin typeface="Malgun Gothic"/>
              </a:rPr>
              <a:t>납니다</a:t>
            </a:r>
            <a:r>
              <a:rPr sz="2200" b="1" dirty="0">
                <a:solidFill>
                  <a:srgbClr val="FF0000"/>
                </a:solidFill>
                <a:latin typeface="Malgun Gothic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5715000"/>
            <a:ext cx="10451592" cy="77724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8680" y="5715000"/>
            <a:ext cx="9144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579729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92400E"/>
                </a:solidFill>
                <a:latin typeface="Malgun Gothic"/>
              </a:rPr>
              <a:t>📖 용어 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5779008"/>
            <a:ext cx="8503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78350F"/>
                </a:solidFill>
                <a:latin typeface="Malgun Gothic"/>
              </a:rPr>
              <a:t>들여쓰기(indent) — 줄 앞의 빈칸. 파이썬은 이것으로 어디까지가 한 묶음인지 판단합니다.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7/27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아니면 이렇게 (else)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score = 75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if score &gt;= 90: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print("A")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else: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print("B")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else는 '위 조건이 아닐 때'입니다.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else 뒤에는 조건을 쓰지 않습니다.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둘 중 하나만 실행됩니다.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8/27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갈래가 셋일 때 (elif)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score = 85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if score &gt;= 90: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print("A")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elif score &gt;= 80: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print("B")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else: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print("C")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elif는 '앞이 아니면 이건 어때?'입니다.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위에서부터 차례로 확인합니다.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맞는 것 하나를 만나면 거기서 끝냅니다.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elif는 여러 번 쓸 수 있습니다.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9/27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조건을 쓸 때 조심할 것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=는 '넣어라', ==는 '같은가?'입니다.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순서가 중요합니다. 큰 범위를 먼저 쓰면 안 됩니다.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90점이 C로 나오면 순서를 의심하세요.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0 &lt;= x &lt;= 100 처럼 범위도 한 번에 쓸 수 있습니다.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10/27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반복문이 필요한 이유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3337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같은 줄을 백 번 복사해 붙일 수는 없습니다.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되풀이할 규칙만 적으면 컴퓨터가 알아서 반복합니다.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횟수가 정해졌으면 for를 씁니다.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조건이 맞는 동안이면 while을 씁니다.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5715000"/>
            <a:ext cx="10451592" cy="77724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8680" y="5715000"/>
            <a:ext cx="9144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579729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92400E"/>
                </a:solidFill>
                <a:latin typeface="Malgun Gothic"/>
              </a:rPr>
              <a:t>📖 용어 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5779008"/>
            <a:ext cx="8503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78350F"/>
                </a:solidFill>
                <a:latin typeface="Malgun Gothic"/>
              </a:rPr>
              <a:t>반복문(for/while) — 같은 일을 여러 번 되풀이하는 문장. 노래 후렴을 반복해 부르는 것과 같습니다.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11/27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정해진 횟수만큼 (for)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for i in range(3):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print(i)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0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1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range(3)은 0, 1, 2 세 개를 만듭니다.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i에 그 값이 하나씩 들어갑니다.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안쪽 줄이 세 번 실행됩니다.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12/27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range 읽는 법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range(5) — 0부터 4까지 다섯 개입니다.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0부터 시작하고, 끝 숫자는 포함하지 않습니다.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range(1, 4) — 1부터 3까지 세 개입니다.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끝 숫자가 빠지는 것만 기억하면 됩니다.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13/27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1부터 세고 싶을 때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for i in range(1, 4):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print(i)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1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2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시작 숫자를 앞에 적습니다.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끝 숫자 4는 나오지 않습니다.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1부터 3까지 세 번 실행됩니다.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14/27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조건이 맞는 동안 (while)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몇 번 반복할지 미리 모를 때 씁니다.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조건이 맞는 동안 계속 되풀이합니다.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조건이 틀어지는 순간 반복을 끝냅니다.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그래서 안쪽에서 조건을 바꿔 줘야 합니다.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15/27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세어 내려가기 (while)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n = 3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while n &gt; 0: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print(n)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n = n - 1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3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2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n이 0보다 큰 동안 되풀이합니다.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n = n - 1 이 n을 줄여 줍니다.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n이 0이 되면 조건이 틀어져 끝납니다.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16/27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멈추지 않는 반복을 조심하세요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3337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안쪽에서 조건을 바꾸지 않으면 영원히 돕니다.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코랩에서는 칸 왼쪽 ■ 중지 단추로 멈춥니다.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while을 쓸 때는 '무엇이 끝을 만드나'를 먼저 정합니다.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이것이 while에서 가장 흔한 실수입니다.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5715000"/>
            <a:ext cx="10451592" cy="77724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8680" y="5715000"/>
            <a:ext cx="9144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579729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92400E"/>
                </a:solidFill>
                <a:latin typeface="Malgun Gothic"/>
              </a:rPr>
              <a:t>📖 용어 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5779008"/>
            <a:ext cx="8503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78350F"/>
                </a:solidFill>
                <a:latin typeface="Malgun Gothic"/>
              </a:rPr>
              <a:t>무한 루프(infinite loop) — 끝나지 않고 영원히 도는 반복. 끝내는 조건을 빠뜨리면 생깁니다.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17/27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차곡차곡 더하기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total = 0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for i in range(1, 6):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total = total + i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print(total)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15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더할 값을 담을 이름을 0으로 시작합니다.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반복할 때마다 그 이름에 더해 줍니다.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1+2+3+4+5 = 15 가 나옵니다.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'처음 값 → 반복하며 갱신'이 기본 꼴입니다.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18/27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이번 주 흔한 실수 다섯 가지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26289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1)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안쪽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줄의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들여쓰기를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빠뜨림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2)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조건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줄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끝에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콜론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(:)을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빠뜨림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3)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조건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순서를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거꾸로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씀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4)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range의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끝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숫자가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포함된다고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착각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5) while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안에서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조건을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바꾸지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않음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19/27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With AI: 오늘은 '고치는 용도'로만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3337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이번 학기 전반부(1~7주) 규칙입니다.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오늘은 오류 메시지가 없는 버그도 다룹니다.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그럴 때는 '기대한 답'과 '실제 답'을 같이 적습니다.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코드를 통째로 받아 붙이지 않습니다.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5715000"/>
            <a:ext cx="10451592" cy="77724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8680" y="5715000"/>
            <a:ext cx="9144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579729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92400E"/>
                </a:solidFill>
                <a:latin typeface="Malgun Gothic"/>
              </a:rPr>
              <a:t>📖 용어 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5779008"/>
            <a:ext cx="8503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78350F"/>
                </a:solidFill>
                <a:latin typeface="Malgun Gothic"/>
              </a:rPr>
              <a:t>프롬프트(prompt) — AI에게 주는 질문이나 지시. 자세할수록 답이 좋아집니다.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프롬프트 템플릿 (기대 vs 실제)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4754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56231"/>
            <a:ext cx="502920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나는 파이썬을 처음 배웁니다.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아래 코드가 원하는 대로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동작하지 않습니다.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[내 코드]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(코드 전체를 붙여넣기)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[기대한 답] 95점 → A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[실제 나온 답] 95점 → C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1) 왜 그런지 두 줄로 설명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2) 고칠 곳만 표시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3) 전체 코드는 주지 마세요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581912"/>
            <a:ext cx="446227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267712"/>
            <a:ext cx="3822191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오류 메시지가 없을 때 쓰는 틀입니다.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'기대한 답'과 '실제 답'을 나란히 적습니다.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이 두 줄만 있어도 원인 찾기가 쉬워집니다.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답을 받으면 내가 직접 고쳐 실행합니다.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21/27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실습 1. 들여쓰기가 빠진 코드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1581912"/>
            <a:ext cx="539496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175564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0B1F3B"/>
                </a:solidFill>
                <a:latin typeface="Malgun Gothic"/>
              </a:rPr>
              <a:t>해야 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148840"/>
            <a:ext cx="493776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아래 코드를 코드 칸에 넣고 실행합니다.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빨간 글씨의 마지막 줄을 읽습니다.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어느 줄에 빈칸이 빠졌는지 찾습니다.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고친 뒤 다시 실행합니다.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4846320"/>
            <a:ext cx="4937760" cy="13258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34440" y="496519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047857"/>
                </a:solidFill>
                <a:latin typeface="Malgun Gothic"/>
              </a:rPr>
              <a:t>✓ 체크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276088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Malgun Gothic"/>
              </a:rPr>
              <a:t>실행하면 A 가 나옵니다.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581912"/>
            <a:ext cx="4873752" cy="4754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66560" y="1755648"/>
            <a:ext cx="43251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E5E7EB"/>
                </a:solidFill>
                <a:latin typeface="Malgun Gothic"/>
              </a:rPr>
              <a:t>실행 코드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148840"/>
            <a:ext cx="4325112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score = 95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if score &gt;= 90: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print("A")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[ 이런 오류가 납니다 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IndentationError: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expected an indented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block after 'if'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statement on line 2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[ 힌트 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indented 는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"들여쓴"이라는 뜻입니다.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22/27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실습 2. 순서가 뒤바뀐 조건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1581912"/>
            <a:ext cx="539496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175564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0B1F3B"/>
                </a:solidFill>
                <a:latin typeface="Malgun Gothic"/>
              </a:rPr>
              <a:t>해야 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148840"/>
            <a:ext cx="493776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코드를 실행합니다. 오류는 나지 않습니다.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95점인데 C가 나오는 것을 확인합니다.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왜 A로 가지 못했는지 생각합니다.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순서를 바꿔 다시 실행합니다.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4846320"/>
            <a:ext cx="4937760" cy="13258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34440" y="496519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047857"/>
                </a:solidFill>
                <a:latin typeface="Malgun Gothic"/>
              </a:rPr>
              <a:t>✓ 체크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276088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Malgun Gothic"/>
              </a:rPr>
              <a:t>실행하면 A 가 나옵니다.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581912"/>
            <a:ext cx="4873752" cy="4754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66560" y="1755648"/>
            <a:ext cx="43251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E5E7EB"/>
                </a:solidFill>
                <a:latin typeface="Malgun Gothic"/>
              </a:rPr>
              <a:t>실행 코드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148840"/>
            <a:ext cx="4325112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score = 95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if score &gt;= 70: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  print("C")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elif score &gt;= 90: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  print("A")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[ 나오는 답 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C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[ 힌트 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위에서부터 차례로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확인하고, 맞는 것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하나를 만나면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거기서 끝냅니다.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23/27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실습 3. 멈추지 않는 반복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1581912"/>
            <a:ext cx="539496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175564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0B1F3B"/>
                </a:solidFill>
                <a:latin typeface="Malgun Gothic"/>
              </a:rPr>
              <a:t>해야 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148840"/>
            <a:ext cx="493776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코드를 실행하면 멈추지 않습니다.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칸 왼쪽 ■ 중지 단추를 눌러 멈춥니다.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무엇이 n을 줄여 주지 않는지 찾습니다.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한 줄을 더해 3 2 1 만 나오게 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4846320"/>
            <a:ext cx="4937760" cy="13258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34440" y="496519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047857"/>
                </a:solidFill>
                <a:latin typeface="Malgun Gothic"/>
              </a:rPr>
              <a:t>✓ 체크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276088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Malgun Gothic"/>
              </a:rPr>
              <a:t>3, 2, 1 을 출력하고 스스로 멈춥니다.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581912"/>
            <a:ext cx="4873752" cy="4754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66560" y="1755648"/>
            <a:ext cx="43251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E5E7EB"/>
                </a:solidFill>
                <a:latin typeface="Malgun Gothic"/>
              </a:rPr>
              <a:t>실행 코드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148840"/>
            <a:ext cx="4325112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n = 3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while n &gt; 0: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  print(n)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[ 무슨 일이 나나요 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3 이 끝없이 나옵니다.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[ 힌트 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n 이 계속 3 이라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조건이 틀어지지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않습니다.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※ 반드시 ■ 중지를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 눌러 멈추세요.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24/27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AI 답변 확인하는 법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고친 코드를 직접 실행해 봤는가?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경계에 있는 값도 넣어 봤는가? (89, 90, 91)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반복이 스스로 멈추는 것을 확인했는가?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고친 이유를 내 말로 말할 수 있는가?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25/27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미니 퀴즈 (5문항)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3766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1)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안쪽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묶음을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정하는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것은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? (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콜론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/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들여쓰기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)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2) range(1, 4)가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만드는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수는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?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3) 90점이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C로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나오면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무엇을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의심할까요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?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4)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while이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안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멈추는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가장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흔한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이유는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?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5)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같은지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묻는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기호는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? (= / ==)</a:t>
            </a:r>
            <a:endParaRPr lang="en-US"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 err="1">
                <a:solidFill>
                  <a:srgbClr val="0F172A"/>
                </a:solidFill>
                <a:latin typeface="Malgun Gothic"/>
              </a:rPr>
              <a:t>정답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: 1-들여쓰기, 2-1·2·3, 3-조건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순서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, 4-조건을 안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바꿈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, 5-==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26/27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과제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필수 — 점수를 입력받아 등급을 출력하는 프로그램.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A는 90점 이상, B는 80점대, 나머지는 C로 합니다.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95, 85, 60 세 값을 넣어 결과를 적어 둡니다.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제출은 코랩 공유 링크 또는 .ipynb 파일.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도전(선택) — 1부터 10까지 짝수만 출력하기.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27/27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오늘 정리 &amp; 다음 주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if로 갈림길을 만들고 elif로 갈래를 늘립니다.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묶음은 들여쓰기가 정합니다.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횟수가 정해졌으면 for, 조건이면 while입니다.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while은 끝내는 조건을 반드시 넣습니다.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다음 주 — 자주 쓰는 코드에 이름을 붙여 재사용합니다.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1759</Words>
  <Application>Microsoft Office PowerPoint</Application>
  <PresentationFormat>와이드스크린</PresentationFormat>
  <Paragraphs>371</Paragraphs>
  <Slides>27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2" baseType="lpstr">
      <vt:lpstr>Malgun Gothic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Yeongju KIM</cp:lastModifiedBy>
  <cp:revision>3</cp:revision>
  <dcterms:created xsi:type="dcterms:W3CDTF">2013-01-27T09:14:16Z</dcterms:created>
  <dcterms:modified xsi:type="dcterms:W3CDTF">2026-08-31T06:04:29Z</dcterms:modified>
  <cp:category/>
</cp:coreProperties>
</file>