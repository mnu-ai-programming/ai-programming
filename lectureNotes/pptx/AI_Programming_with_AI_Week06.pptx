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408" y="5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897112" y="3931920"/>
            <a:ext cx="3840480" cy="384048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3601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06040"/>
            <a:ext cx="103601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0">
                <a:solidFill>
                  <a:srgbClr val="D1FAE5"/>
                </a:solidFill>
                <a:latin typeface="Malgun Gothic"/>
              </a:rPr>
              <a:t>Week 6. 리스트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46120"/>
            <a:ext cx="103601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E2E8F0"/>
                </a:solidFill>
                <a:latin typeface="Malgun Gothic"/>
              </a:rPr>
              <a:t>값 여러 개를 한 줄에 담아 다루기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학습 목표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값 여러 개를 하나의 이름에 담을 수 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번호로 값을 꺼내고 바꿀 수 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값을 넣고 빼고 줄 세울 수 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리스트를 하나씩 꺼내 계산할 수 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3/27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오늘의 구성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26289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1) 값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여러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개를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한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줄에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담기</a:t>
            </a:r>
            <a:endParaRPr sz="2200" b="0" dirty="0">
              <a:solidFill>
                <a:srgbClr val="0F172A"/>
              </a:solidFill>
              <a:latin typeface="Malgun Gothic"/>
            </a:endParaRP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2)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번호로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꺼내고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바꾸기</a:t>
            </a:r>
            <a:endParaRPr sz="2200" b="0" dirty="0">
              <a:solidFill>
                <a:srgbClr val="0F172A"/>
              </a:solidFill>
              <a:latin typeface="Malgun Gothic"/>
            </a:endParaRP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3)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넣기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·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빼기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· 줄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세우기</a:t>
            </a:r>
            <a:endParaRPr sz="2200" b="0" dirty="0">
              <a:solidFill>
                <a:srgbClr val="0F172A"/>
              </a:solidFill>
              <a:latin typeface="Malgun Gothic"/>
            </a:endParaRP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4)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하나씩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꺼내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계산하기</a:t>
            </a:r>
            <a:endParaRPr sz="2200" b="0" dirty="0">
              <a:solidFill>
                <a:srgbClr val="0F172A"/>
              </a:solidFill>
              <a:latin typeface="Malgun Gothic"/>
            </a:endParaRP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5) With AI —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틀린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코드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고치기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실습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3개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4/27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값이 여러 개일 때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33375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학생 30명의 점수에 이름을 30개 붙일 수는 없습니다.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대괄호 [ ] 안에 쉼표로 나열하면 한 줄에 담깁니다.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담은 순서가 그대로 유지됩니다.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숫자와 글자를 섞어 담을 수도 있습니다.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5715000"/>
            <a:ext cx="10451592" cy="777240"/>
          </a:xfrm>
          <a:prstGeom prst="rect">
            <a:avLst/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68680" y="5715000"/>
            <a:ext cx="91440" cy="7772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43000" y="5797296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92400E"/>
                </a:solidFill>
                <a:latin typeface="Malgun Gothic"/>
              </a:rPr>
              <a:t>📖 용어 노트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5779008"/>
            <a:ext cx="8503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78350F"/>
                </a:solidFill>
                <a:latin typeface="Malgun Gothic"/>
              </a:rPr>
              <a:t>리스트(list) — 값 여러 개를 순서대로 담는 상자. 번호가 붙은 사물함 한 줄과 같습니다.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5/27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담고 꺼내기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5669280" cy="26060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1828800"/>
            <a:ext cx="5029200" cy="2148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nums = [10, 20, 30]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print(nums[0])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print(nums[-1])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4343400"/>
            <a:ext cx="5669280" cy="1216152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88720" y="445312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Malgun Gothic"/>
              </a:rPr>
              <a:t>실행 결과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754880"/>
            <a:ext cx="5029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10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30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1581912"/>
            <a:ext cx="4462272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0" y="1581912"/>
            <a:ext cx="4462272" cy="11887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78040" y="1810512"/>
            <a:ext cx="38221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B1F3B"/>
                </a:solidFill>
                <a:latin typeface="Malgun Gothic"/>
              </a:rPr>
              <a:t>핵심 포인트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2267712"/>
            <a:ext cx="3822191" cy="30632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대괄호 안 번호로 하나씩 꺼냅니다.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첫 번째는 1번이 아니라 0번입니다.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-1은 맨 뒤를 뜻합니다.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" y="5715000"/>
            <a:ext cx="10451592" cy="777240"/>
          </a:xfrm>
          <a:prstGeom prst="rect">
            <a:avLst/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68680" y="5715000"/>
            <a:ext cx="91440" cy="7772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43000" y="5797296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92400E"/>
                </a:solidFill>
                <a:latin typeface="Malgun Gothic"/>
              </a:rPr>
              <a:t>📖 용어 노트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1760" y="5779008"/>
            <a:ext cx="8503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78350F"/>
                </a:solidFill>
                <a:latin typeface="Malgun Gothic"/>
              </a:rPr>
              <a:t>인덱스(index) — 리스트 안 자리 번호. 사물함에 붙은 번호표와 같습니다.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6/27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번호 읽는 법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번호는 0부터 시작합니다.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값이 세 개면 번호는 0, 1, 2 입니다.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마지막은 -1, 그 앞은 -2 로도 셀 수 있습니다.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없는 번호를 부르면 오류가 납니다.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7/27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없는 번호를 부르면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5669280" cy="26060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1828800"/>
            <a:ext cx="5029200" cy="2148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nums = [10, 20, 30]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print(nums[3])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4343400"/>
            <a:ext cx="5669280" cy="1216152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88720" y="445312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Malgun Gothic"/>
              </a:rPr>
              <a:t>실행 결과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754880"/>
            <a:ext cx="5029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IndexError: list index out of range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1581912"/>
            <a:ext cx="4462272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0" y="1581912"/>
            <a:ext cx="4462272" cy="11887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78040" y="1810512"/>
            <a:ext cx="38221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B1F3B"/>
                </a:solidFill>
                <a:latin typeface="Malgun Gothic"/>
              </a:rPr>
              <a:t>핵심 포인트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2267712"/>
            <a:ext cx="3822191" cy="30632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값은 세 개인데 3번을 불렀습니다.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쓸 수 있는 번호는 0, 1, 2 뿐입니다.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out of range 는 '범위 밖'이라는 뜻입니다.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8/27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값 바꾸기와 개수 세기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5669280" cy="26060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1828800"/>
            <a:ext cx="5029200" cy="2148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nums = [10, 20, 30]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nums[1] = 99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print(nums)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print(len(nums))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4343400"/>
            <a:ext cx="5669280" cy="1216152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88720" y="445312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Malgun Gothic"/>
              </a:rPr>
              <a:t>실행 결과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754880"/>
            <a:ext cx="5029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[10, 99, 30]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1581912"/>
            <a:ext cx="4462272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0" y="1581912"/>
            <a:ext cx="4462272" cy="11887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78040" y="1810512"/>
            <a:ext cx="38221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B1F3B"/>
                </a:solidFill>
                <a:latin typeface="Malgun Gothic"/>
              </a:rPr>
              <a:t>핵심 포인트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2267712"/>
            <a:ext cx="3822191" cy="30632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번호를 골라 값을 덮어쓸 수 있습니다.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len 은 담긴 값이 몇 개인지 알려 줍니다.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값을 바꿔도 개수는 그대로입니다.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9/27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일부만 잘라 쓰기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5669280" cy="26060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1828800"/>
            <a:ext cx="5029200" cy="2148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a = [0, 1, 2, 3, 4]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print(a[1:4])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print(a[:2])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4343400"/>
            <a:ext cx="5669280" cy="1216152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88720" y="445312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Malgun Gothic"/>
              </a:rPr>
              <a:t>실행 결과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754880"/>
            <a:ext cx="5029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[1, 2, 3]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[0, 1]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1581912"/>
            <a:ext cx="4462272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0" y="1581912"/>
            <a:ext cx="4462272" cy="11887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78040" y="1810512"/>
            <a:ext cx="38221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B1F3B"/>
                </a:solidFill>
                <a:latin typeface="Malgun Gothic"/>
              </a:rPr>
              <a:t>핵심 포인트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2267712"/>
            <a:ext cx="3822191" cy="30632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콜론 앞은 시작 번호, 뒤는 끝 번호입니다.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끝 번호는 포함되지 않습니다. range와 같습니다.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앞을 비우면 처음부터라는 뜻입니다.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잘라 낸 결과는 새 리스트입니다.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10/27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뒤에 하나 붙이기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5669280" cy="26060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1828800"/>
            <a:ext cx="5029200" cy="2148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nums = [10, 20]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nums.append(30)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print(nums)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4343400"/>
            <a:ext cx="5669280" cy="1216152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88720" y="445312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Malgun Gothic"/>
              </a:rPr>
              <a:t>실행 결과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754880"/>
            <a:ext cx="5029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[10, 20, 30]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1581912"/>
            <a:ext cx="4462272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0" y="1581912"/>
            <a:ext cx="4462272" cy="11887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78040" y="1810512"/>
            <a:ext cx="38221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B1F3B"/>
                </a:solidFill>
                <a:latin typeface="Malgun Gothic"/>
              </a:rPr>
              <a:t>핵심 포인트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2267712"/>
            <a:ext cx="3822191" cy="30632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점을 찍고 append 를 부릅니다.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맨 뒤에 하나가 붙습니다.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nums 자체가 바뀝니다. 돌려받을 필요가 없습니다.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11/27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맨 뒤에서 하나 빼기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5669280" cy="26060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1828800"/>
            <a:ext cx="5029200" cy="2148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nums = [10, 20, 30]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x = nums.pop()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print(x)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print(nums)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4343400"/>
            <a:ext cx="5669280" cy="1216152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88720" y="445312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Malgun Gothic"/>
              </a:rPr>
              <a:t>실행 결과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754880"/>
            <a:ext cx="5029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30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[10, 20]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1581912"/>
            <a:ext cx="4462272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0" y="1581912"/>
            <a:ext cx="4462272" cy="11887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78040" y="1810512"/>
            <a:ext cx="38221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B1F3B"/>
                </a:solidFill>
                <a:latin typeface="Malgun Gothic"/>
              </a:rPr>
              <a:t>핵심 포인트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2267712"/>
            <a:ext cx="3822191" cy="30632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pop 은 빼면서 그 값을 돌려줍니다.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돌려받은 값을 이름에 담아 쓸 수 있습니다.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빠진 자리만큼 리스트가 짧아집니다.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12/27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값을 보고 지우기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5669280" cy="26060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1828800"/>
            <a:ext cx="5029200" cy="2148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nums = [10, 20, 30]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nums.remove(20)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print(nums)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4343400"/>
            <a:ext cx="5669280" cy="1216152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88720" y="445312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Malgun Gothic"/>
              </a:rPr>
              <a:t>실행 결과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754880"/>
            <a:ext cx="5029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[10, 30]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1581912"/>
            <a:ext cx="4462272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0" y="1581912"/>
            <a:ext cx="4462272" cy="11887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78040" y="1810512"/>
            <a:ext cx="38221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B1F3B"/>
                </a:solidFill>
                <a:latin typeface="Malgun Gothic"/>
              </a:rPr>
              <a:t>핵심 포인트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2267712"/>
            <a:ext cx="4070805" cy="10284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 dirty="0" err="1">
                <a:solidFill>
                  <a:srgbClr val="0F172A"/>
                </a:solidFill>
                <a:latin typeface="Malgun Gothic"/>
              </a:rPr>
              <a:t>번호가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아니라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값을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적어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지웁니다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 dirty="0" err="1">
                <a:solidFill>
                  <a:srgbClr val="0F172A"/>
                </a:solidFill>
                <a:latin typeface="Malgun Gothic"/>
              </a:rPr>
              <a:t>같은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값이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여럿이면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앞의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하나만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지웁니다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 dirty="0" err="1">
                <a:solidFill>
                  <a:srgbClr val="0F172A"/>
                </a:solidFill>
                <a:latin typeface="Malgun Gothic"/>
              </a:rPr>
              <a:t>없는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값을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지우려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하면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오류가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납니다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13/27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줄 세우는 두 가지 방법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33375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nums.sort() — 원본을 직접 줄 세웁니다.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sorted(nums) — 줄 세운 새 리스트를 돌려줍니다.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원본을 남겨야 하면 sorted 를 씁니다.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sort() 는 돌려주는 값이 없습니다. 담으면 None 입니다.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5715000"/>
            <a:ext cx="10451592" cy="777240"/>
          </a:xfrm>
          <a:prstGeom prst="rect">
            <a:avLst/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68680" y="5715000"/>
            <a:ext cx="91440" cy="7772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43000" y="5797296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92400E"/>
                </a:solidFill>
                <a:latin typeface="Malgun Gothic"/>
              </a:rPr>
              <a:t>📖 용어 노트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5779008"/>
            <a:ext cx="8503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78350F"/>
                </a:solidFill>
                <a:latin typeface="Malgun Gothic"/>
              </a:rPr>
              <a:t>정렬(sort) — 값을 순서대로 줄 세우는 일. 키 순서로 줄을 세우는 것과 같습니다.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14/27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원본을 두고 줄 세우기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5669280" cy="26060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1828800"/>
            <a:ext cx="5029200" cy="2148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nums = [3, 1, 10]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new = sorted(nums)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print(nums)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print(new)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4343400"/>
            <a:ext cx="5669280" cy="1216152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88720" y="445312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Malgun Gothic"/>
              </a:rPr>
              <a:t>실행 결과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754880"/>
            <a:ext cx="5029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[3, 1, 10]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[1, 3, 10]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1581912"/>
            <a:ext cx="4462272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0" y="1581912"/>
            <a:ext cx="4462272" cy="11887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78040" y="1810512"/>
            <a:ext cx="38221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B1F3B"/>
                </a:solidFill>
                <a:latin typeface="Malgun Gothic"/>
              </a:rPr>
              <a:t>핵심 포인트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2267712"/>
            <a:ext cx="3822191" cy="30632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nums 는 그대로 남아 있습니다.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줄 세운 결과는 new 에 따로 담깁니다.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숫자는 작은 것부터 줄을 섭니다.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큰 것부터 하려면 reverse=True 를 넣습니다.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15/27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하나씩 꺼내 쓰기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5669280" cy="26060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1828800"/>
            <a:ext cx="5029200" cy="2148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scores = [80, 90, 70]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for s in scores: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    print(s)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4343400"/>
            <a:ext cx="5669280" cy="1216152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88720" y="445312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Malgun Gothic"/>
              </a:rPr>
              <a:t>실행 결과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754880"/>
            <a:ext cx="5029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80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90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70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1581912"/>
            <a:ext cx="4462272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0" y="1581912"/>
            <a:ext cx="4462272" cy="11887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78040" y="1810512"/>
            <a:ext cx="38221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B1F3B"/>
                </a:solidFill>
                <a:latin typeface="Malgun Gothic"/>
              </a:rPr>
              <a:t>핵심 포인트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2267712"/>
            <a:ext cx="3822191" cy="30632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range 없이 리스트를 바로 쓸 수 있습니다.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담긴 값이 s 에 하나씩 들어옵니다.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담긴 개수만큼 되풀이됩니다.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16/27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합계와 평균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5669280" cy="26060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1828800"/>
            <a:ext cx="5029200" cy="2148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scores = [80, 90, 70]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print(sum(scores))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print(sum(scores) / len(scores))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4343400"/>
            <a:ext cx="5669280" cy="1216152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88720" y="445312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Malgun Gothic"/>
              </a:rPr>
              <a:t>실행 결과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754880"/>
            <a:ext cx="5029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240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80.0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1581912"/>
            <a:ext cx="4462272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0" y="1581912"/>
            <a:ext cx="4462272" cy="11887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78040" y="1810512"/>
            <a:ext cx="38221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B1F3B"/>
                </a:solidFill>
                <a:latin typeface="Malgun Gothic"/>
              </a:rPr>
              <a:t>핵심 포인트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2267712"/>
            <a:ext cx="3822191" cy="30632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sum 은 담긴 값을 모두 더해 줍니다.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평균은 합계를 개수로 나눕니다.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직접 for 로 더해도 결과는 같습니다.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빈 리스트를 나누면 오류가 나니 주의하세요.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17/27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이름을 더 붙여도 같은 것입니다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5669280" cy="26060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1828800"/>
            <a:ext cx="5029200" cy="2148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a = [1, 2, 3]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b = a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b.append(4)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print(a)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4343400"/>
            <a:ext cx="5669280" cy="1216152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88720" y="445312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Malgun Gothic"/>
              </a:rPr>
              <a:t>실행 결과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754880"/>
            <a:ext cx="5029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[1, 2, 3, 4]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1581912"/>
            <a:ext cx="4462272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0" y="1581912"/>
            <a:ext cx="4462272" cy="11887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78040" y="1810512"/>
            <a:ext cx="38221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B1F3B"/>
                </a:solidFill>
                <a:latin typeface="Malgun Gothic"/>
              </a:rPr>
              <a:t>핵심 포인트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2267712"/>
            <a:ext cx="3822191" cy="30632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b 는 새 리스트가 아니라 같은 것의 다른 이름입니다.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b 를 바꿨는데 a 도 같이 바뀌었습니다.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오류가 안 나서 알아채기 어렵습니다.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따로 쓰려면 b = a.copy() 로 복사합니다.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18/27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이번 주 흔한 실수 다섯 가지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26289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1) 첫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번째를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1번으로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착각</a:t>
            </a:r>
            <a:endParaRPr sz="2200" b="0" dirty="0">
              <a:solidFill>
                <a:srgbClr val="0F172A"/>
              </a:solidFill>
              <a:latin typeface="Malgun Gothic"/>
            </a:endParaRP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2)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없는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번호를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불러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IndexError</a:t>
            </a:r>
            <a:endParaRPr sz="2200" b="0" dirty="0">
              <a:solidFill>
                <a:srgbClr val="0F172A"/>
              </a:solidFill>
              <a:latin typeface="Malgun Gothic"/>
            </a:endParaRP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3)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없는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값을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지우려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해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ValueError</a:t>
            </a:r>
            <a:endParaRPr sz="2200" b="0" dirty="0">
              <a:solidFill>
                <a:srgbClr val="0F172A"/>
              </a:solidFill>
              <a:latin typeface="Malgun Gothic"/>
            </a:endParaRP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4) sort() 의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결과를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담아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None 이 됨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5) b = a 를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복사로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착각</a:t>
            </a:r>
            <a:endParaRPr sz="2200" b="0" dirty="0">
              <a:solidFill>
                <a:srgbClr val="0F172A"/>
              </a:solidFill>
              <a:latin typeface="Malgun Gothic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19/27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With AI: 오늘은 '고치는 용도'로만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33375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이번 학기 전반부(1~7주) 규칙입니다.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'프로그램을 만들어 줘'라고 하지 않습니다.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내가 쓴 코드의 틀린 곳만 물어봅니다.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리스트는 값이 어떻게 바뀌는지 눈으로 봐야 늡니다.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5715000"/>
            <a:ext cx="10451592" cy="777240"/>
          </a:xfrm>
          <a:prstGeom prst="rect">
            <a:avLst/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68680" y="5715000"/>
            <a:ext cx="91440" cy="7772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43000" y="5797296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92400E"/>
                </a:solidFill>
                <a:latin typeface="Malgun Gothic"/>
              </a:rPr>
              <a:t>📖 용어 노트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5779008"/>
            <a:ext cx="8503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78350F"/>
                </a:solidFill>
                <a:latin typeface="Malgun Gothic"/>
              </a:rPr>
              <a:t>프롬프트(prompt) — AI에게 주는 질문이나 지시. 자세할수록 답이 좋아집니다.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프롬프트 템플릿 (오류 수정)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5669280" cy="47548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1856231"/>
            <a:ext cx="502920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나는 파이썬을 처음 배웁니다.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아래 코드가 원하는 대로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동작하지 않습니다.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600" b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[내 코드]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(코드 전체를 붙여넣기)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600" b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[리스트에 담긴 값]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[기대한 답]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[실제 나온 답 또는 오류]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600" b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1) 왜 그런지 두 줄로 설명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2) 고칠 곳만 표시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3) 전체 코드는 주지 마세요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0" y="1581912"/>
            <a:ext cx="446227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858000" y="1581912"/>
            <a:ext cx="4462272" cy="11887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78040" y="1810512"/>
            <a:ext cx="38221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B1F3B"/>
                </a:solidFill>
                <a:latin typeface="Malgun Gothic"/>
              </a:rPr>
              <a:t>핵심 포인트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2267712"/>
            <a:ext cx="3822191" cy="3840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리스트에 무엇이 담겨 있었는지 함께 적습니다.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같은 코드도 담긴 값에 따라 결과가 달라집니다.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기대한 답과 실제 답을 나란히 적습니다.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답을 받으면 내가 직접 고쳐 실행합니다.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21/27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실습 1. 범위를 벗어난 번호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2960" y="1581912"/>
            <a:ext cx="5394960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1755648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0B1F3B"/>
                </a:solidFill>
                <a:latin typeface="Malgun Gothic"/>
              </a:rPr>
              <a:t>해야 할 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148840"/>
            <a:ext cx="4937760" cy="1783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>
                <a:solidFill>
                  <a:srgbClr val="0F172A"/>
                </a:solidFill>
                <a:latin typeface="Malgun Gothic"/>
              </a:rPr>
              <a:t>아래 코드를 코드 칸에 넣고 실행합니다.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>
                <a:solidFill>
                  <a:srgbClr val="0F172A"/>
                </a:solidFill>
                <a:latin typeface="Malgun Gothic"/>
              </a:rPr>
              <a:t>빨간 글씨의 마지막 줄을 읽습니다.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>
                <a:solidFill>
                  <a:srgbClr val="0F172A"/>
                </a:solidFill>
                <a:latin typeface="Malgun Gothic"/>
              </a:rPr>
              <a:t>담긴 값이 몇 개인지 세어 봅니다.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>
                <a:solidFill>
                  <a:srgbClr val="0F172A"/>
                </a:solidFill>
                <a:latin typeface="Malgun Gothic"/>
              </a:rPr>
              <a:t>마지막 값이 나오도록 고칩니다.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4846320"/>
            <a:ext cx="4937760" cy="13258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34440" y="496519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047857"/>
                </a:solidFill>
                <a:latin typeface="Malgun Gothic"/>
              </a:rPr>
              <a:t>✓ 체크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276088"/>
            <a:ext cx="46634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0F172A"/>
                </a:solidFill>
                <a:latin typeface="Malgun Gothic"/>
              </a:rPr>
              <a:t>실행하면 30 이 나옵니다.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1581912"/>
            <a:ext cx="4873752" cy="47548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66560" y="1755648"/>
            <a:ext cx="432511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E5E7EB"/>
                </a:solidFill>
                <a:latin typeface="Malgun Gothic"/>
              </a:rPr>
              <a:t>실행 코드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148840"/>
            <a:ext cx="4325112" cy="4023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nums = [10, 20, 30]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print(nums[3])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400" b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[ 이런 오류가 납니다 ]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IndexError: list index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out of range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400" b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[ 힌트 ]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번호는 0부터 셉니다.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-1 을 써도 됩니다.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22/27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실습 2. 없는 값을 지우려 함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2960" y="1581912"/>
            <a:ext cx="5394960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1755648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0B1F3B"/>
                </a:solidFill>
                <a:latin typeface="Malgun Gothic"/>
              </a:rPr>
              <a:t>해야 할 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148840"/>
            <a:ext cx="4937760" cy="1783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>
                <a:solidFill>
                  <a:srgbClr val="0F172A"/>
                </a:solidFill>
                <a:latin typeface="Malgun Gothic"/>
              </a:rPr>
              <a:t>코드를 실행해 오류 이름을 확인합니다.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>
                <a:solidFill>
                  <a:srgbClr val="0F172A"/>
                </a:solidFill>
                <a:latin typeface="Malgun Gothic"/>
              </a:rPr>
              <a:t>리스트에 40 이 있는지 봅니다.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>
                <a:solidFill>
                  <a:srgbClr val="0F172A"/>
                </a:solidFill>
                <a:latin typeface="Malgun Gothic"/>
              </a:rPr>
              <a:t>번호와 값 중 무엇을 적어야 하는지 생각합니다.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>
                <a:solidFill>
                  <a:srgbClr val="0F172A"/>
                </a:solidFill>
                <a:latin typeface="Malgun Gothic"/>
              </a:rPr>
              <a:t>20 이 지워지도록 고칩니다.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4846320"/>
            <a:ext cx="4937760" cy="13258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34440" y="496519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047857"/>
                </a:solidFill>
                <a:latin typeface="Malgun Gothic"/>
              </a:rPr>
              <a:t>✓ 체크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276088"/>
            <a:ext cx="46634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0F172A"/>
                </a:solidFill>
                <a:latin typeface="Malgun Gothic"/>
              </a:rPr>
              <a:t>실행하면 [10, 30] 이 나옵니다.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1581912"/>
            <a:ext cx="4873752" cy="47548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66560" y="1755648"/>
            <a:ext cx="432511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E5E7EB"/>
                </a:solidFill>
                <a:latin typeface="Malgun Gothic"/>
              </a:rPr>
              <a:t>실행 코드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148840"/>
            <a:ext cx="4325112" cy="4023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nums = [10, 20, 30]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nums.remove(40)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print(nums)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400" b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[ 이런 오류가 납니다 ]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ValueError: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list.remove(x):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x not in list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400" b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[ 힌트 ]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remove 는 번호가 아니라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값을 적습니다.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23/27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실습 3. 복사한 줄 알았는데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2960" y="1581912"/>
            <a:ext cx="5394960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1755648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0B1F3B"/>
                </a:solidFill>
                <a:latin typeface="Malgun Gothic"/>
              </a:rPr>
              <a:t>해야 할 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148840"/>
            <a:ext cx="4937760" cy="1783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>
                <a:solidFill>
                  <a:srgbClr val="0F172A"/>
                </a:solidFill>
                <a:latin typeface="Malgun Gothic"/>
              </a:rPr>
              <a:t>코드를 실행합니다. 오류는 나지 않습니다.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>
                <a:solidFill>
                  <a:srgbClr val="0F172A"/>
                </a:solidFill>
                <a:latin typeface="Malgun Gothic"/>
              </a:rPr>
              <a:t>원본까지 [1, 2, 3, 4] 가 된 것을 확인합니다.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>
                <a:solidFill>
                  <a:srgbClr val="0F172A"/>
                </a:solidFill>
                <a:latin typeface="Malgun Gothic"/>
              </a:rPr>
              <a:t>b 가 새 리스트가 아닌 이유를 생각합니다.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>
                <a:solidFill>
                  <a:srgbClr val="0F172A"/>
                </a:solidFill>
                <a:latin typeface="Malgun Gothic"/>
              </a:rPr>
              <a:t>원본이 그대로 남도록 고칩니다.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4846320"/>
            <a:ext cx="4937760" cy="13258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34440" y="496519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047857"/>
                </a:solidFill>
                <a:latin typeface="Malgun Gothic"/>
              </a:rPr>
              <a:t>✓ 체크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276088"/>
            <a:ext cx="46634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0F172A"/>
                </a:solidFill>
                <a:latin typeface="Malgun Gothic"/>
              </a:rPr>
              <a:t>a 는 [1, 2, 3], b 는 [1, 2, 3, 4] 입니다.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1581912"/>
            <a:ext cx="4873752" cy="47548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66560" y="1755648"/>
            <a:ext cx="432511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E5E7EB"/>
                </a:solidFill>
                <a:latin typeface="Malgun Gothic"/>
              </a:rPr>
              <a:t>실행 코드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148840"/>
            <a:ext cx="4325112" cy="4023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a = [1, 2, 3]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b = a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b.append(4)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print(a)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print(b)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400" b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[ 나오는 답 ]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[1, 2, 3, 4]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[1, 2, 3, 4]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400" b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[ 힌트 ]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copy() 를 쓰면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따로 있는 리스트가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만들어집니다.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24/27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AI 답변 확인하는 법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고친 코드를 직접 실행해 봤는가?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값이 하나뿐인 리스트로도 해 봤는가?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원본이 바뀌었는지 print로 확인했는가?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고친 이유를 내 말로 말할 수 있는가?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25/27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미니 퀴즈 (5문항)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3766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1) 첫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번째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값의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번호는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? (0 / 1)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2) a[1:4] 에 4번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값이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들어갈까요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?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3) pop() 이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돌려주는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것은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무엇일까요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?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4)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원본을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남기고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줄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세우려면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? (sort / sorted)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5) b = a 는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복사일까요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?</a:t>
            </a:r>
            <a:endParaRPr lang="en-US" sz="2200" b="0" dirty="0">
              <a:solidFill>
                <a:srgbClr val="0F172A"/>
              </a:solidFill>
              <a:latin typeface="Malgun Gothic"/>
            </a:endParaRP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endParaRPr sz="2200" b="0" dirty="0">
              <a:solidFill>
                <a:srgbClr val="0F172A"/>
              </a:solidFill>
              <a:latin typeface="Malgun Gothic"/>
            </a:endParaRP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 err="1">
                <a:solidFill>
                  <a:srgbClr val="0F172A"/>
                </a:solidFill>
                <a:latin typeface="Malgun Gothic"/>
              </a:rPr>
              <a:t>정답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: 1-0, 2-아니요, 3-빼낸 값, 4-sorted, 5-아니요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26/27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과제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필수 — 점수 다섯 개를 담은 리스트를 만듭니다.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합계 · 평균 · 가장 큰 값을 출력합니다.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가장 큰 값은 sorted 로 줄 세워 마지막을 꺼냅니다.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제출은 코랩 공유 링크 또는 .ipynb 파일.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도전(선택) — 90점 이상이 몇 개인지 세어 보기.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27/27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오늘 정리 &amp; 다음 주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값이 여러 개면 대괄호에 담습니다.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번호는 0부터 세고, 없는 번호는 오류입니다.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append · pop · remove 로 넣고 뺍니다.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b = a 는 복사가 아니라 같은 것입니다.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다음 주 — 짝지어 저장하고 중복을 없애는 방법.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1864</Words>
  <Application>Microsoft Office PowerPoint</Application>
  <PresentationFormat>와이드스크린</PresentationFormat>
  <Paragraphs>385</Paragraphs>
  <Slides>27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2" baseType="lpstr">
      <vt:lpstr>Malgun Gothic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Yeongju KIM</cp:lastModifiedBy>
  <cp:revision>3</cp:revision>
  <dcterms:created xsi:type="dcterms:W3CDTF">2013-01-27T09:14:16Z</dcterms:created>
  <dcterms:modified xsi:type="dcterms:W3CDTF">2026-08-31T06:06:36Z</dcterms:modified>
  <cp:category/>
</cp:coreProperties>
</file>