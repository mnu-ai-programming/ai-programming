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97112" y="3931920"/>
            <a:ext cx="3840480" cy="3840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>
                <a:solidFill>
                  <a:srgbClr val="D1FAE5"/>
                </a:solidFill>
                <a:latin typeface="Malgun Gothic"/>
              </a:rPr>
              <a:t>Week 2. 코랩 시작하기와 첫 프로그램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2E8F0"/>
                </a:solidFill>
                <a:latin typeface="Malgun Gothic"/>
              </a:rPr>
              <a:t>설치 없이 브라우저에서 · 저장과 제출까지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학습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코랩에서 새 노트북을 만들고 이름을 붙일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 칸과 텍스트 칸을 구분해 쓸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print로 첫 프로그램을 만들어 실행할 수 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만든 노트북을 저장하고 제출할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오늘의 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628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코랩이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무엇인가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노트북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만들기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칸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다루기와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첫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프로그램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저장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공유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·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제출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With AI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틀린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고치기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3개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수업 자료가 있는 곳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eek01_github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740" y="1856231"/>
            <a:ext cx="7001471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5769864"/>
            <a:ext cx="9902952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dirty="0">
                <a:solidFill>
                  <a:srgbClr val="64748B"/>
                </a:solidFill>
                <a:latin typeface="Malgun Gothic"/>
              </a:rPr>
              <a:t>github.com/MNU-AI-Programming/AI-programming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코랩이 무엇인가요?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브라우저에서 바로 파이썬을 실행하는 구글 서비스입니다.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 컴퓨터에는 아무것도 설치하지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설명과 코드와 결과가 한 화면에 함께 남습니다.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그래서 공부와 과제 제출에 편합니다.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코랩(Google Colab) — 구글이 제공하는 웹 파이썬 실행 환경. 주소는 colab.new 입니다.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노트북(notebook) — 설명과 코드와 결과를 함께 담는 파일. 확장자는 .ipynb 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준비물은 세 가지뿐입니다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구글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지메일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계정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브라우저</a:t>
            </a:r>
            <a:r>
              <a:rPr lang="en-US" sz="2200" b="0" dirty="0">
                <a:solidFill>
                  <a:srgbClr val="0F172A"/>
                </a:solidFill>
                <a:latin typeface="Malgun Gothic"/>
              </a:rPr>
              <a:t>(</a:t>
            </a:r>
            <a:r>
              <a:rPr lang="ko-KR" altLang="en-US" sz="2200" b="0" dirty="0">
                <a:solidFill>
                  <a:srgbClr val="0F172A"/>
                </a:solidFill>
                <a:latin typeface="Malgun Gothic"/>
              </a:rPr>
              <a:t>크롬</a:t>
            </a:r>
            <a:r>
              <a:rPr lang="en-US" altLang="ko-KR" sz="2200" b="0" dirty="0">
                <a:solidFill>
                  <a:srgbClr val="0F172A"/>
                </a:solidFill>
                <a:latin typeface="Malgun Gothic"/>
              </a:rPr>
              <a:t>)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인터넷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연결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설치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관리자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권한도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필요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없습니다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새 노트북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주소창에 colab.new 를 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구글 계정으로 로그인합니다.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빈 노트북이 열립니다.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왼쪽 위 제목을 눌러 이름을 바꿉니다.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dirty="0" err="1">
                <a:solidFill>
                  <a:srgbClr val="0F172A"/>
                </a:solidFill>
                <a:latin typeface="Malgun Gothic"/>
              </a:rPr>
              <a:t>제목이</a:t>
            </a:r>
            <a:r>
              <a:rPr sz="14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en-US" sz="1400" b="0" dirty="0">
                <a:solidFill>
                  <a:srgbClr val="0F172A"/>
                </a:solidFill>
                <a:latin typeface="Malgun Gothic"/>
              </a:rPr>
              <a:t>Week</a:t>
            </a:r>
            <a:r>
              <a:rPr lang="en-US" altLang="ko-KR" sz="1400" b="0" dirty="0">
                <a:solidFill>
                  <a:srgbClr val="0F172A"/>
                </a:solidFill>
                <a:latin typeface="Malgun Gothic"/>
              </a:rPr>
              <a:t>2_</a:t>
            </a:r>
            <a:r>
              <a:rPr lang="ko-KR" altLang="en-US" sz="1400" b="0" dirty="0" err="1">
                <a:solidFill>
                  <a:srgbClr val="0F172A"/>
                </a:solidFill>
                <a:latin typeface="Malgun Gothic"/>
              </a:rPr>
              <a:t>내이름</a:t>
            </a:r>
            <a:r>
              <a:rPr sz="14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Malgun Gothic"/>
              </a:rPr>
              <a:t>으로</a:t>
            </a:r>
            <a:r>
              <a:rPr sz="14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Malgun Gothic"/>
              </a:rPr>
              <a:t>바뀌어</a:t>
            </a:r>
            <a:r>
              <a:rPr sz="14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4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화면에서 할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[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주소창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colab.new</a:t>
            </a: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[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제목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바꾸기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왼쪽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위 Untitled0.ipynb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→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클릭</a:t>
            </a: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→ Week2_홍길동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[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다른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방법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 err="1">
                <a:solidFill>
                  <a:srgbClr val="00B0F0"/>
                </a:solidFill>
                <a:latin typeface="Consolas"/>
              </a:rPr>
              <a:t>구글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드라이브</a:t>
            </a: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→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새로</a:t>
            </a:r>
            <a:r>
              <a:rPr sz="1400" b="0" dirty="0">
                <a:solidFill>
                  <a:srgbClr val="00B0F0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만들기</a:t>
            </a: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→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더보기</a:t>
            </a:r>
            <a:endParaRPr sz="1400" b="0" dirty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dirty="0">
                <a:solidFill>
                  <a:srgbClr val="00B0F0"/>
                </a:solidFill>
                <a:latin typeface="Consolas"/>
              </a:rPr>
              <a:t>  → </a:t>
            </a:r>
            <a:r>
              <a:rPr sz="1400" b="0" dirty="0" err="1">
                <a:solidFill>
                  <a:srgbClr val="00B0F0"/>
                </a:solidFill>
                <a:latin typeface="Consolas"/>
              </a:rPr>
              <a:t>Colaboratory</a:t>
            </a:r>
            <a:endParaRPr sz="1400" b="0" dirty="0">
              <a:solidFill>
                <a:srgbClr val="00B0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노트북은 칸으로 되어 있습니다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206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노트북은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여러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개의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칸</a:t>
            </a:r>
            <a:r>
              <a:rPr lang="en-US" sz="2200" b="0" dirty="0">
                <a:solidFill>
                  <a:srgbClr val="0F172A"/>
                </a:solidFill>
                <a:latin typeface="Malgun Gothic"/>
              </a:rPr>
              <a:t>(cell)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나뉘어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칸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파이썬을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실행하는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칸입니다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텍스트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칸 —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설명을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적는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칸입니다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위에서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아래로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순서대로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실행합니다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셀(cell) — 노트북을 이루는 한 칸. 코드 칸과 텍스트 칸 두 종류가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칸 다루는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+ 코드 를 누르면 코드 칸이 생깁니다.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+ 텍스트 를 누르면 설명 칸이 생깁니다.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Shift + Enter — 실행하고 다음 칸으로 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Ctrl + Enter — 실행하고 그 자리에 머뭅니다.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292729F-03D1-0BED-2E8A-1B2E61E3D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791" y="4415400"/>
            <a:ext cx="5502166" cy="1372752"/>
          </a:xfrm>
          <a:prstGeom prst="rect">
            <a:avLst/>
          </a:prstGeom>
          <a:effectLst>
            <a:glow rad="12700">
              <a:schemeClr val="tx1"/>
            </a:glow>
            <a:softEdge rad="127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첫 프로그램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solidFill>
                  <a:srgbClr val="00B0F0"/>
                </a:solidFill>
                <a:latin typeface="Consolas"/>
              </a:rPr>
              <a:t>print("Hello, </a:t>
            </a:r>
            <a:r>
              <a:rPr sz="1600" b="0" dirty="0" err="1">
                <a:solidFill>
                  <a:srgbClr val="00B0F0"/>
                </a:solidFill>
                <a:latin typeface="Consolas"/>
              </a:rPr>
              <a:t>Colab</a:t>
            </a:r>
            <a:r>
              <a:rPr sz="1600" b="0" dirty="0">
                <a:solidFill>
                  <a:srgbClr val="00B0F0"/>
                </a:solidFill>
                <a:latin typeface="Consolas"/>
              </a:rPr>
              <a:t>!")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Hello, Colab!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코드 칸에 그대로 치고 Shift + Enter.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칸 아래에 결과가 나오면 성공입니다.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이것이 가장 작은 성공 경험입니다.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여러 줄 출력하기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print("반갑습니다")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안녕하세요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반갑습니다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한 칸에 여러 줄을 넣을 수 있습니다.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적은 순서대로 위에서 아래로 실행됩니다.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결과도 그 순서대로 나옵니다.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계산 결과 보기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print(2 + 3 * 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숫자에는 따옴표를 쓰지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곱셈을 덧셈보다 먼저 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따옴표를 씌우면 글자 그대로 나옵니다.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주석 — 실행되지 않는 메모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2606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502920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# 인사말을 출력합니다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print("안녕하세요")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5669280" cy="121615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4531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Consolas"/>
              </a:rPr>
              <a:t>안녕하세요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81912"/>
            <a:ext cx="44622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67712"/>
            <a:ext cx="3822191" cy="3063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#부터 줄 끝까지는 실행되지 않습니다.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왜 이렇게 썼는지 적어 두는 칸입니다.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나중에 다시 볼 나를 위한 메모입니다.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주석(comment) — 코드에 적어 두는 설명. # 뒤에 쓰며 실행되지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실행 순서가 중요합니다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위 칸을 건너뛰면 아래 칸에서 오류가 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순서가 꼬였으면 위에서부터 다시 실행합니다.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[런타임] → [모두 실행] 이 가장 확실합니다.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오류가 나면 먼저 이것부터 해 보세요.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런타임이 무엇인가요?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 코드를 대신 돌려 주는 구글의 컴퓨터입니다.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한참 안 쓰면 연결이 끊깁니다.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끊기면 위에서부터 다시 실행하면 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 파일 자체가 사라지는 것은 아닙니다.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런타임(runtime) — 코드를 실제로 실행해 주는 임시 컴퓨터. 쉬면 꺼지고 다시 켜집니다.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무엇이 남고 무엇이 사라지나요?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남습니다 — 노트북 파일(.ipynb)은 드라이브에 저장됩니다.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남습니다 — 코드와 설명과 결과가 함께 남습니다.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사라집니다 — /content 에 만든 파일은 없어질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사라집니다 — 그때 설치한 것도 없어질 수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파일 저장은 9주차에 자세히 배웁니다.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내 노트북은 어디에 저장되나요?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따로 누르지 않아도 구글 드라이브에 저장됩니다.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드라이브의 'Colab Notebooks' 폴더에 있습니다.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못 찾으면 [파일] → [노트 열기] 로 찾습니다.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제목을 잘 붙여 두면 나중에 찾기 쉽습니다.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18/27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저장하고 제출하기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Ctrl + S 로 한 번 저장합니다.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오른쪽 위 [공유] 를 누릅니다.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링크 권한을 '링크가 있는 모든 사용자'로 바꿉니다.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링크를 복사해 제출합니다.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로그아웃한 창에서도 그 링크가 열립니다.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제출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① 공유 링크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오른쪽 위 [공유]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링크 권한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링크가 있는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 모든 사용자(뷰어)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링크 복사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② 파일 다운로드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[파일]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.ipynb 다운로드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→ 학교 LMS 업로드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둘 중 하나만 하면 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19/27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With AI: 오늘은 '고치는 용도'로만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337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이번 학기 전반부(1~7주) 규칙입니다.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코드를 통째로 받아 붙이지 않습니다.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내가 쓴 코드의 틀린 곳만 물어봅니다.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직접 쳐 봐야 오타를 줄이는 눈이 생깁니다.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715000"/>
            <a:ext cx="10451592" cy="77724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571500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797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92400E"/>
                </a:solidFill>
                <a:latin typeface="Malgun Gothic"/>
              </a:rPr>
              <a:t>📖 용어 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779008"/>
            <a:ext cx="8503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78350F"/>
                </a:solidFill>
                <a:latin typeface="Malgun Gothic"/>
              </a:rPr>
              <a:t>프롬프트(prompt) — AI에게 주는 질문이나 지시. 자세할수록 답이 좋아집니다.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프롬프트 템플릿 (오류 수정)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5669280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나는 파이썬을 처음 배웁니다.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코랩에서 아래 코드를 실행했더니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오류가 났습니다.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[내 코드]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(코드 전체를 붙여넣기)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[오류 메시지]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(빨간 글씨를 한 줄도 빼지 말고)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1) 왜 났는지 두 줄로 설명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2) 고칠 곳만 표시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00B0F0"/>
                </a:solidFill>
                <a:latin typeface="Consolas"/>
              </a:rPr>
              <a:t>3) 전체 코드는 주지 마세요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81912"/>
            <a:ext cx="44622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1581912"/>
            <a:ext cx="4462272" cy="1188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10512"/>
            <a:ext cx="38221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1F3B"/>
                </a:solidFill>
                <a:latin typeface="Malgun Gothic"/>
              </a:rPr>
              <a:t>핵심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67712"/>
            <a:ext cx="3822191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내 코드와 오류 메시지를 함께 붙입니다.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빨간 글씨는 요약하지 말고 그대로 넣습니다.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'전체 코드는 주지 마세요'가 핵심입니다.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>
                <a:solidFill>
                  <a:srgbClr val="0F172A"/>
                </a:solidFill>
                <a:latin typeface="Malgun Gothic"/>
              </a:rPr>
              <a:t>답을 받으면 내가 직접 고쳐 실행합니다.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21/27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1. 대문자로 쓴 명령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아래 코드를 코드 칸에 넣고 실행합니다.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빨간 글씨의 마지막 줄을 읽습니다.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무엇이 다른지 눈으로 찾습니다.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안녕하세요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Print("안녕하세요")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NameError: name 'Print'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is not defined.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Did you mean: 'print'?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파이썬은 대문자와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소문자를 다르게 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22/27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2. 괄호가 하나 더 있는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실행해 오류 이름을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여는 괄호와 닫는 괄호 개수를 셉니다.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남는 괄호 하나를 지웁니다.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안녕하세요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print("안녕하세요"))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SyntaxError: unmatched ')'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unmatched 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"짝이 없다"는 뜻입니다.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23/27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실습 3. 줄 앞에 공백이 있는 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81912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55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1F3B"/>
                </a:solidFill>
                <a:latin typeface="Malgun Gothic"/>
              </a:rPr>
              <a:t>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48840"/>
            <a:ext cx="49377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코드를 실행해 오류 이름을 확인합니다.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줄 맨 앞에 무엇이 있는지 봅니다.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앞 공백을 지웁니다.</a:t>
            </a:r>
          </a:p>
          <a:p>
            <a:pPr marL="219456" indent="-219456"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>
                <a:solidFill>
                  <a:srgbClr val="0F172A"/>
                </a:solidFill>
                <a:latin typeface="Malgun Gothic"/>
              </a:rPr>
              <a:t>고친 뒤 다시 실행합니다.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846320"/>
            <a:ext cx="493776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9651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47857"/>
                </a:solidFill>
                <a:latin typeface="Malgun Gothic"/>
              </a:rPr>
              <a:t>✓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7608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Malgun Gothic"/>
              </a:rPr>
              <a:t>실행하면 반갑습니다 가 나옵니다.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581912"/>
            <a:ext cx="4873752" cy="4754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755648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Malgun Gothic"/>
              </a:rPr>
              <a:t>실행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48840"/>
            <a:ext cx="4325112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    print("반갑습니다")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이런 오류가 납니다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IndentationError: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unexpected indent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>
              <a:solidFill>
                <a:srgbClr val="00B0F0"/>
              </a:solidFill>
              <a:latin typeface="Consolas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[ 힌트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파이썬은 줄 앞 공백에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뜻이 있습니다. 4주차에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00B0F0"/>
                </a:solidFill>
                <a:latin typeface="Consolas"/>
              </a:rPr>
              <a:t>자세히 배웁니다.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AI 답변 확인하는 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받은 코드를 직접 실행해 봤는가?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결과가 내가 기대한 것과 같은가?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고친 이유를 내 말로 말할 수 있는가?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개인정보를 붙여 넣지는 않았는가?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확인하지 않은 답은 참고 의견일 뿐입니다.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25/27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미니 퀴즈 (5문항)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3766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1) 새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노트북을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여는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주소는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colab.new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drive.new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2)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실행하고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다음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칸으로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가는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키는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3)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세션이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끝나면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사라지는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것은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노트북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content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4)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나면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먼저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할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일은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모두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새로고침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>
                <a:solidFill>
                  <a:srgbClr val="0F172A"/>
                </a:solidFill>
                <a:latin typeface="Malgun Gothic"/>
              </a:rPr>
              <a:t>5)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전반부의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AI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용도는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? (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코드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생성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/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오류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수정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)</a:t>
            </a:r>
            <a:endParaRPr lang="en-US"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endParaRPr sz="2200" b="0" dirty="0">
              <a:solidFill>
                <a:srgbClr val="0F172A"/>
              </a:solidFill>
              <a:latin typeface="Malgun Gothic"/>
            </a:endParaRP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200" b="0" dirty="0" err="1">
                <a:solidFill>
                  <a:srgbClr val="0F172A"/>
                </a:solidFill>
                <a:latin typeface="Malgun Gothic"/>
              </a:rPr>
              <a:t>정답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: 1-colab.new, 2-Shift+Enter, 3-content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파일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4-모두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실행</a:t>
            </a:r>
            <a:r>
              <a:rPr sz="2200" b="0" dirty="0">
                <a:solidFill>
                  <a:srgbClr val="0F172A"/>
                </a:solidFill>
                <a:latin typeface="Malgun Gothic"/>
              </a:rPr>
              <a:t>, 5-오류 </a:t>
            </a:r>
            <a:r>
              <a:rPr sz="2200" b="0" dirty="0" err="1">
                <a:solidFill>
                  <a:srgbClr val="0F172A"/>
                </a:solidFill>
                <a:latin typeface="Malgun Gothic"/>
              </a:rPr>
              <a:t>수정</a:t>
            </a:r>
            <a:endParaRPr sz="2200" b="0" dirty="0">
              <a:solidFill>
                <a:srgbClr val="0F172A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새 노트북을 만들어 이름을 Week2_내이름 으로.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print로 내 소개 세 줄을 출력합니다.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필수 — 실습 1~3 중 하나를 골라 고친 과정을 적습니다.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코랩 공유 링크 또는 .ipynb 파일.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도전(선택) — 텍스트 칸으로 제목과 설명 붙이기.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30352"/>
          </a:xfrm>
          <a:prstGeom prst="rect">
            <a:avLst/>
          </a:prstGeom>
          <a:solidFill>
            <a:srgbClr val="0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AI활용프로그래밍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2872" y="12801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algun Gothic"/>
              </a:rPr>
              <a:t>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200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2026-1학기 · 컴퓨터학부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6202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Malgun Gothic"/>
              </a:rPr>
              <a:t>27/27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58952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B1F3B"/>
                </a:solidFill>
                <a:latin typeface="Malgun Gothic"/>
              </a:rPr>
              <a:t>오늘 정리 &amp; 다음 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581912"/>
            <a:ext cx="1045159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01952"/>
            <a:ext cx="962863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코랩은 설치 없이 브라우저에서 씁니다.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노트북은 칸으로 되어 있고 위에서부터 실행합니다.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노트북 파일은 남고, 런타임 파일은 사라집니다.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제출은 공유 링크 또는 .ipynb 다운로드입니다.</a:t>
            </a:r>
          </a:p>
          <a:p>
            <a:pPr marL="274320" indent="-274320" algn="l">
              <a:lnSpc>
                <a:spcPct val="115000"/>
              </a:lnSpc>
              <a:spcAft>
                <a:spcPts val="1400"/>
              </a:spcAft>
              <a:buFont typeface="Arial"/>
              <a:buChar char="•"/>
            </a:pPr>
            <a:r>
              <a:rPr sz="2200" b="0">
                <a:solidFill>
                  <a:srgbClr val="0F172A"/>
                </a:solidFill>
                <a:latin typeface="Malgun Gothic"/>
              </a:rPr>
              <a:t>다음 주 — 값에 이름을 붙이고 계산해 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1612</Words>
  <Application>Microsoft Office PowerPoint</Application>
  <PresentationFormat>와이드스크린</PresentationFormat>
  <Paragraphs>356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Yeongju KIM</cp:lastModifiedBy>
  <cp:revision>4</cp:revision>
  <dcterms:created xsi:type="dcterms:W3CDTF">2013-01-27T09:14:16Z</dcterms:created>
  <dcterms:modified xsi:type="dcterms:W3CDTF">2026-08-31T05:59:12Z</dcterms:modified>
  <cp:category/>
</cp:coreProperties>
</file>